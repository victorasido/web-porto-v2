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73" r:id="rId9"/>
    <p:sldId id="283" r:id="rId10"/>
    <p:sldId id="264" r:id="rId11"/>
    <p:sldId id="266" r:id="rId12"/>
    <p:sldId id="268" r:id="rId13"/>
    <p:sldId id="269" r:id="rId14"/>
    <p:sldId id="272" r:id="rId15"/>
    <p:sldId id="274" r:id="rId16"/>
    <p:sldId id="271" r:id="rId17"/>
    <p:sldId id="279" r:id="rId18"/>
    <p:sldId id="261" r:id="rId19"/>
    <p:sldId id="275" r:id="rId20"/>
    <p:sldId id="284" r:id="rId21"/>
    <p:sldId id="278" r:id="rId22"/>
    <p:sldId id="277" r:id="rId23"/>
    <p:sldId id="280" r:id="rId24"/>
  </p:sldIdLst>
  <p:sldSz cx="12192000" cy="6858000"/>
  <p:notesSz cx="6858000" cy="9144000"/>
  <p:embeddedFontLst>
    <p:embeddedFont>
      <p:font typeface="Lato" panose="020F0502020204030203" pitchFamily="34" charset="0"/>
      <p:regular r:id="rId26"/>
      <p:bold r:id="rId27"/>
      <p:italic r:id="rId28"/>
      <p:boldItalic r:id="rId29"/>
    </p:embeddedFont>
    <p:embeddedFont>
      <p:font typeface="Poppins" panose="00000500000000000000" pitchFamily="2" charset="0"/>
      <p:regular r:id="rId30"/>
      <p:bold r:id="rId31"/>
      <p:italic r:id="rId32"/>
      <p:boldItalic r:id="rId33"/>
    </p:embeddedFont>
    <p:embeddedFont>
      <p:font typeface="Poppins SemiBold" panose="00000700000000000000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0B77361-4D43-424F-B301-7362C2F4EB20}">
  <a:tblStyle styleId="{A0B77361-4D43-424F-B301-7362C2F4EB2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F9689557-33D4-16EC-5ECD-A4919DCA0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>
            <a:extLst>
              <a:ext uri="{FF2B5EF4-FFF2-40B4-BE49-F238E27FC236}">
                <a16:creationId xmlns:a16="http://schemas.microsoft.com/office/drawing/2014/main" id="{E0E7F53E-5F50-D31F-44FD-D5E2F79BE5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>
            <a:extLst>
              <a:ext uri="{FF2B5EF4-FFF2-40B4-BE49-F238E27FC236}">
                <a16:creationId xmlns:a16="http://schemas.microsoft.com/office/drawing/2014/main" id="{02BDDD5F-97DA-D263-5D59-C56F5AA842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19507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6A27D1CF-1B33-081B-A2E1-F7C500A3A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>
            <a:extLst>
              <a:ext uri="{FF2B5EF4-FFF2-40B4-BE49-F238E27FC236}">
                <a16:creationId xmlns:a16="http://schemas.microsoft.com/office/drawing/2014/main" id="{CAE41E9E-0F09-3C1B-F230-5B5204D9E9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>
            <a:extLst>
              <a:ext uri="{FF2B5EF4-FFF2-40B4-BE49-F238E27FC236}">
                <a16:creationId xmlns:a16="http://schemas.microsoft.com/office/drawing/2014/main" id="{4AE7AB33-065C-6740-2D04-B9D3B3D73C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05590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A3CD0F9F-78B8-1130-F844-5C1E47CBD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>
            <a:extLst>
              <a:ext uri="{FF2B5EF4-FFF2-40B4-BE49-F238E27FC236}">
                <a16:creationId xmlns:a16="http://schemas.microsoft.com/office/drawing/2014/main" id="{338D6385-A97B-CD88-37CC-E21FFF3748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>
            <a:extLst>
              <a:ext uri="{FF2B5EF4-FFF2-40B4-BE49-F238E27FC236}">
                <a16:creationId xmlns:a16="http://schemas.microsoft.com/office/drawing/2014/main" id="{513D7171-C613-C058-4EF7-8A193BCAFB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64186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BAE0A53C-F6FA-8B96-5F45-450B948AB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>
            <a:extLst>
              <a:ext uri="{FF2B5EF4-FFF2-40B4-BE49-F238E27FC236}">
                <a16:creationId xmlns:a16="http://schemas.microsoft.com/office/drawing/2014/main" id="{A51165DE-5E9A-55D3-1F92-998917C03A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>
            <a:extLst>
              <a:ext uri="{FF2B5EF4-FFF2-40B4-BE49-F238E27FC236}">
                <a16:creationId xmlns:a16="http://schemas.microsoft.com/office/drawing/2014/main" id="{D0B98E4D-E9AA-B0EF-C354-CFDE1420EB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83533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879B8F40-9444-2FCE-2F75-3DA7E911E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>
            <a:extLst>
              <a:ext uri="{FF2B5EF4-FFF2-40B4-BE49-F238E27FC236}">
                <a16:creationId xmlns:a16="http://schemas.microsoft.com/office/drawing/2014/main" id="{0C62B50D-867D-9A76-B622-69183E9FC7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>
            <a:extLst>
              <a:ext uri="{FF2B5EF4-FFF2-40B4-BE49-F238E27FC236}">
                <a16:creationId xmlns:a16="http://schemas.microsoft.com/office/drawing/2014/main" id="{99FFF825-A06D-9F2F-1FB5-1F1E85E098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39598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C83862F4-DD9B-AB8F-52A5-6C37B08B6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>
            <a:extLst>
              <a:ext uri="{FF2B5EF4-FFF2-40B4-BE49-F238E27FC236}">
                <a16:creationId xmlns:a16="http://schemas.microsoft.com/office/drawing/2014/main" id="{EA61B40B-E28E-0B6E-1E4F-0382D487C3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9" name="Google Shape;169;p7:notes">
            <a:extLst>
              <a:ext uri="{FF2B5EF4-FFF2-40B4-BE49-F238E27FC236}">
                <a16:creationId xmlns:a16="http://schemas.microsoft.com/office/drawing/2014/main" id="{EB7589CE-2F71-A2DB-2BEB-4C268574BE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67032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4FF34813-B919-EA22-B179-3F0CC2F34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>
            <a:extLst>
              <a:ext uri="{FF2B5EF4-FFF2-40B4-BE49-F238E27FC236}">
                <a16:creationId xmlns:a16="http://schemas.microsoft.com/office/drawing/2014/main" id="{DF66B173-17C8-5CC5-E047-34F38AC441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>
            <a:extLst>
              <a:ext uri="{FF2B5EF4-FFF2-40B4-BE49-F238E27FC236}">
                <a16:creationId xmlns:a16="http://schemas.microsoft.com/office/drawing/2014/main" id="{1502724A-FCB3-41B9-0729-4599145441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17692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1993C4BB-BEFB-44D2-4253-636AF8EC0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>
            <a:extLst>
              <a:ext uri="{FF2B5EF4-FFF2-40B4-BE49-F238E27FC236}">
                <a16:creationId xmlns:a16="http://schemas.microsoft.com/office/drawing/2014/main" id="{361F6084-EB96-BF80-6A74-0AB7C0AF7C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9" name="Google Shape;169;p7:notes">
            <a:extLst>
              <a:ext uri="{FF2B5EF4-FFF2-40B4-BE49-F238E27FC236}">
                <a16:creationId xmlns:a16="http://schemas.microsoft.com/office/drawing/2014/main" id="{2FB69EC3-DF32-D6C4-060E-7E6171397B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0527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B535D489-6C27-811F-88E3-42CF70A8E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>
            <a:extLst>
              <a:ext uri="{FF2B5EF4-FFF2-40B4-BE49-F238E27FC236}">
                <a16:creationId xmlns:a16="http://schemas.microsoft.com/office/drawing/2014/main" id="{01414997-633A-1461-64BA-E5F3548DDE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>
            <a:extLst>
              <a:ext uri="{FF2B5EF4-FFF2-40B4-BE49-F238E27FC236}">
                <a16:creationId xmlns:a16="http://schemas.microsoft.com/office/drawing/2014/main" id="{E6B443ED-44CA-CBF9-64E6-B71A1DD49D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16975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C8F6737E-8125-59FE-77D9-EA5EC189D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>
            <a:extLst>
              <a:ext uri="{FF2B5EF4-FFF2-40B4-BE49-F238E27FC236}">
                <a16:creationId xmlns:a16="http://schemas.microsoft.com/office/drawing/2014/main" id="{4FDB5670-80BA-F624-845D-72E480597D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>
            <a:extLst>
              <a:ext uri="{FF2B5EF4-FFF2-40B4-BE49-F238E27FC236}">
                <a16:creationId xmlns:a16="http://schemas.microsoft.com/office/drawing/2014/main" id="{884C28A6-3734-4326-8EF0-DD13748EFB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36433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217A48A1-46F2-7574-428E-DDE2F99A5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>
            <a:extLst>
              <a:ext uri="{FF2B5EF4-FFF2-40B4-BE49-F238E27FC236}">
                <a16:creationId xmlns:a16="http://schemas.microsoft.com/office/drawing/2014/main" id="{E8B39C47-D3E4-6396-D1AC-48DB13A63F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>
            <a:extLst>
              <a:ext uri="{FF2B5EF4-FFF2-40B4-BE49-F238E27FC236}">
                <a16:creationId xmlns:a16="http://schemas.microsoft.com/office/drawing/2014/main" id="{E8474EFF-D9BF-3146-53D2-B6A9264F60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63212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B3878554-FB65-583C-2EB0-42B070BF0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>
            <a:extLst>
              <a:ext uri="{FF2B5EF4-FFF2-40B4-BE49-F238E27FC236}">
                <a16:creationId xmlns:a16="http://schemas.microsoft.com/office/drawing/2014/main" id="{37267FF8-B9B8-EA7B-387D-C68B76C06C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>
            <a:extLst>
              <a:ext uri="{FF2B5EF4-FFF2-40B4-BE49-F238E27FC236}">
                <a16:creationId xmlns:a16="http://schemas.microsoft.com/office/drawing/2014/main" id="{071E8D33-F764-13FB-2398-CCFEA0C2E5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9218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0FC2C9FF-B694-B4C6-6661-F958C5BCF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>
            <a:extLst>
              <a:ext uri="{FF2B5EF4-FFF2-40B4-BE49-F238E27FC236}">
                <a16:creationId xmlns:a16="http://schemas.microsoft.com/office/drawing/2014/main" id="{CCE3CC85-8BD9-8263-885B-5302F270A6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9" name="Google Shape;169;p7:notes">
            <a:extLst>
              <a:ext uri="{FF2B5EF4-FFF2-40B4-BE49-F238E27FC236}">
                <a16:creationId xmlns:a16="http://schemas.microsoft.com/office/drawing/2014/main" id="{0B0DAB72-57FC-E76A-532D-2CD32DBF97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01985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B44AEBBD-1A86-D3FA-6360-550302892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>
            <a:extLst>
              <a:ext uri="{FF2B5EF4-FFF2-40B4-BE49-F238E27FC236}">
                <a16:creationId xmlns:a16="http://schemas.microsoft.com/office/drawing/2014/main" id="{359FB455-151C-D24D-63D6-BC13C32A9E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>
            <a:extLst>
              <a:ext uri="{FF2B5EF4-FFF2-40B4-BE49-F238E27FC236}">
                <a16:creationId xmlns:a16="http://schemas.microsoft.com/office/drawing/2014/main" id="{5B3BA2D4-9111-6512-2A3B-7B5A110EC3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6167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hyperlink" Target="mailto:git@github.com:victorasido/WPS" TargetMode="External"/><Relationship Id="rId4" Type="http://schemas.openxmlformats.org/officeDocument/2006/relationships/hyperlink" Target="https://github.com/victorasido/WPS.git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260645" y="2386012"/>
            <a:ext cx="5670708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WORD SIGNER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3395662" y="3338512"/>
            <a:ext cx="54006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Automated Document Signing System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3395662" y="4043362"/>
            <a:ext cx="5400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Fast • Mobile • Professional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619750" y="2767012"/>
            <a:ext cx="952500" cy="38100"/>
          </a:xfrm>
          <a:prstGeom prst="rect">
            <a:avLst/>
          </a:prstGeom>
          <a:solidFill>
            <a:srgbClr val="CF20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820590" y="2995612"/>
            <a:ext cx="655081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2976562" y="3852862"/>
            <a:ext cx="62388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Solusi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tanda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tangan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digital.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95500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71500" y="209550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Bisa </a:t>
            </a:r>
            <a:r>
              <a:rPr lang="en-US" sz="2400" b="1" i="0" u="none" strike="noStrike" cap="none" dirty="0" err="1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dari</a:t>
            </a:r>
            <a:r>
              <a:rPr lang="en-US" sz="2400" b="1" i="0" u="none" strike="noStrike" cap="none" dirty="0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 Handphone</a:t>
            </a:r>
            <a:endParaRPr dirty="0"/>
          </a:p>
        </p:txBody>
      </p:sp>
      <p:sp>
        <p:nvSpPr>
          <p:cNvPr id="103" name="Google Shape;103;p15"/>
          <p:cNvSpPr txBox="1"/>
          <p:nvPr/>
        </p:nvSpPr>
        <p:spPr>
          <a:xfrm>
            <a:off x="571500" y="26955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Program ini adalah bot Telegram cerdas yang memungkinkan Anda menandatangani dokumen kapan saja dan di mana saja.</a:t>
            </a:r>
            <a:endParaRPr/>
          </a:p>
        </p:txBody>
      </p:sp>
      <p:pic>
        <p:nvPicPr>
          <p:cNvPr id="104" name="Google Shape;10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105025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952500" y="341947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Tidak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perlu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buka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laptop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atau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PC.</a:t>
            </a:r>
            <a:endParaRPr dirty="0"/>
          </a:p>
        </p:txBody>
      </p:sp>
      <p:sp>
        <p:nvSpPr>
          <p:cNvPr id="106" name="Google Shape;106;p15"/>
          <p:cNvSpPr txBox="1"/>
          <p:nvPr/>
        </p:nvSpPr>
        <p:spPr>
          <a:xfrm>
            <a:off x="952500" y="389572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Proses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cepat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langsung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via chat Telegram.</a:t>
            </a:r>
            <a:endParaRPr dirty="0"/>
          </a:p>
        </p:txBody>
      </p:sp>
      <p:sp>
        <p:nvSpPr>
          <p:cNvPr id="107" name="Google Shape;107;p15"/>
          <p:cNvSpPr txBox="1"/>
          <p:nvPr/>
        </p:nvSpPr>
        <p:spPr>
          <a:xfrm>
            <a:off x="952500" y="437197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Hasil profesional dalam format PDF siap kirim.</a:t>
            </a:r>
            <a:endParaRPr/>
          </a:p>
        </p:txBody>
      </p:sp>
      <p:pic>
        <p:nvPicPr>
          <p:cNvPr id="108" name="Google Shape;10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57575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9338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41007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TANDA TANGAN TANPA PC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CF20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62225"/>
            <a:ext cx="342900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562225"/>
            <a:ext cx="342900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2562225"/>
            <a:ext cx="3429000" cy="26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785812" y="3609975"/>
            <a:ext cx="3000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Docker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57250" y="4210050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Berjalan stabil di server menggunakan containerization.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4595812" y="3609975"/>
            <a:ext cx="3000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Python 3.11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4667250" y="4210050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Bahasa pemrograman utama untuk pemrosesan data.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405812" y="3609975"/>
            <a:ext cx="3000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Bot Token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477250" y="4210050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Memerlukan token resmi dari Telegram BotFather.</a:t>
            </a:r>
            <a:endParaRPr/>
          </a:p>
        </p:txBody>
      </p:sp>
      <p:pic>
        <p:nvPicPr>
          <p:cNvPr id="127" name="Google Shape;12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85962" y="2895600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86450" y="2895600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05962" y="2895600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REQUIREMENTS UTAMA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CF20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7" name="Google Shape;137;p17"/>
          <p:cNvGraphicFramePr/>
          <p:nvPr>
            <p:extLst>
              <p:ext uri="{D42A27DB-BD31-4B8C-83A1-F6EECF244321}">
                <p14:modId xmlns:p14="http://schemas.microsoft.com/office/powerpoint/2010/main" val="3152653096"/>
              </p:ext>
            </p:extLst>
          </p:nvPr>
        </p:nvGraphicFramePr>
        <p:xfrm>
          <a:off x="571500" y="2557462"/>
          <a:ext cx="11048975" cy="2227898"/>
        </p:xfrm>
        <a:graphic>
          <a:graphicData uri="http://schemas.openxmlformats.org/drawingml/2006/table">
            <a:tbl>
              <a:tblPr firstRow="1" bandRow="1">
                <a:noFill/>
                <a:tableStyleId>{A0B77361-4D43-424F-B301-7362C2F4EB20}</a:tableStyleId>
              </a:tblPr>
              <a:tblGrid>
                <a:gridCol w="2707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2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Komponen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20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Fungsi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20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Detail Teknis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Mesin Konversi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Ubah Word (.docx) ke PDF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LibreOffice Headless Engine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Mesin Injeksi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Menyisipkan TTD ke PDF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PyMuPDF (fitz)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52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Database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Simpan Sesi &amp; History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SQLite 3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8" name="Google Shape;138;p17"/>
          <p:cNvSpPr/>
          <p:nvPr/>
        </p:nvSpPr>
        <p:spPr>
          <a:xfrm>
            <a:off x="571500" y="3638550"/>
            <a:ext cx="2707332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3278832" y="3638550"/>
            <a:ext cx="407923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7358062" y="3638550"/>
            <a:ext cx="4262437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571500" y="4171950"/>
            <a:ext cx="2707332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3278832" y="4171950"/>
            <a:ext cx="407923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7358062" y="4171950"/>
            <a:ext cx="4262437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571500" y="4705350"/>
            <a:ext cx="2707332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3278832" y="4705350"/>
            <a:ext cx="407923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7358062" y="4705350"/>
            <a:ext cx="4262437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KOMPONEN TEKNIS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CF20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571500" y="3143250"/>
            <a:ext cx="528637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CF2030"/>
                </a:solidFill>
                <a:latin typeface="Lato"/>
                <a:ea typeface="Lato"/>
                <a:cs typeface="Lato"/>
                <a:sym typeface="Lato"/>
              </a:rPr>
              <a:t>&lt;30s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6334125" y="2890837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Pemrosesan Kilat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334125" y="3490912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Dari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saat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Anda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mengirim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dokumen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hingga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menerima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hasil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akhir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, proses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hanya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memakan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waktu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kurang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dari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30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detik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75" name="Google Shape;175;p19"/>
          <p:cNvSpPr txBox="1"/>
          <p:nvPr/>
        </p:nvSpPr>
        <p:spPr>
          <a:xfrm>
            <a:off x="6334125" y="4205287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Meningkatkan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produktivitas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kerja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tanpa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hambatan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birokrasi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manual.</a:t>
            </a:r>
            <a:endParaRPr dirty="0"/>
          </a:p>
        </p:txBody>
      </p:sp>
      <p:sp>
        <p:nvSpPr>
          <p:cNvPr id="176" name="Google Shape;176;p19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EFISIENSI WAKTU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CF20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/>
          <p:nvPr/>
        </p:nvSpPr>
        <p:spPr>
          <a:xfrm>
            <a:off x="5619750" y="2767012"/>
            <a:ext cx="952500" cy="38100"/>
          </a:xfrm>
          <a:prstGeom prst="rect">
            <a:avLst/>
          </a:prstGeom>
          <a:solidFill>
            <a:srgbClr val="CF20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2965608" y="2995612"/>
            <a:ext cx="6260782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PANDUAN INSTALASI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3114675" y="3852862"/>
            <a:ext cx="59626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Mudah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diatur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dan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dijalankan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di server.`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1D6A5EEA-B761-BE9D-BF2B-31066CF7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73B97E5-7A2F-8C14-EB97-832641317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906" y="0"/>
            <a:ext cx="6263094" cy="6858000"/>
          </a:xfrm>
          <a:prstGeom prst="rect">
            <a:avLst/>
          </a:prstGeom>
        </p:spPr>
      </p:pic>
      <p:sp>
        <p:nvSpPr>
          <p:cNvPr id="173" name="Google Shape;173;p19">
            <a:extLst>
              <a:ext uri="{FF2B5EF4-FFF2-40B4-BE49-F238E27FC236}">
                <a16:creationId xmlns:a16="http://schemas.microsoft.com/office/drawing/2014/main" id="{8CD2D14F-68DB-6533-D057-836425725BE4}"/>
              </a:ext>
            </a:extLst>
          </p:cNvPr>
          <p:cNvSpPr txBox="1"/>
          <p:nvPr/>
        </p:nvSpPr>
        <p:spPr>
          <a:xfrm>
            <a:off x="6256531" y="1060328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Clone Repo</a:t>
            </a:r>
            <a:endParaRPr dirty="0"/>
          </a:p>
        </p:txBody>
      </p:sp>
      <p:sp>
        <p:nvSpPr>
          <p:cNvPr id="174" name="Google Shape;174;p19">
            <a:extLst>
              <a:ext uri="{FF2B5EF4-FFF2-40B4-BE49-F238E27FC236}">
                <a16:creationId xmlns:a16="http://schemas.microsoft.com/office/drawing/2014/main" id="{46C811ED-10BF-25FF-4666-43E4F3C53D51}"/>
              </a:ext>
            </a:extLst>
          </p:cNvPr>
          <p:cNvSpPr txBox="1"/>
          <p:nvPr/>
        </p:nvSpPr>
        <p:spPr>
          <a:xfrm>
            <a:off x="6256531" y="1786145"/>
            <a:ext cx="5237130" cy="290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ID" dirty="0"/>
              <a:t>Langkah </a:t>
            </a:r>
            <a:r>
              <a:rPr lang="en-ID" dirty="0" err="1"/>
              <a:t>pertama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menyalin</a:t>
            </a:r>
            <a:r>
              <a:rPr lang="en-ID" dirty="0"/>
              <a:t> </a:t>
            </a:r>
            <a:r>
              <a:rPr lang="en-ID" dirty="0" err="1"/>
              <a:t>seluruh</a:t>
            </a:r>
            <a:r>
              <a:rPr lang="en-ID" dirty="0"/>
              <a:t> </a:t>
            </a:r>
            <a:r>
              <a:rPr lang="en-ID" dirty="0" err="1"/>
              <a:t>kode</a:t>
            </a:r>
            <a:r>
              <a:rPr lang="en-ID" dirty="0"/>
              <a:t> program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pusat</a:t>
            </a:r>
            <a:r>
              <a:rPr lang="en-ID" dirty="0"/>
              <a:t> </a:t>
            </a:r>
            <a:r>
              <a:rPr lang="en-ID" dirty="0" err="1"/>
              <a:t>penyimpanan</a:t>
            </a:r>
            <a:r>
              <a:rPr lang="en-ID" dirty="0"/>
              <a:t> GitHub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komputer</a:t>
            </a:r>
            <a:r>
              <a:rPr lang="en-ID" dirty="0"/>
              <a:t> Anda agar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dijalankan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lokal</a:t>
            </a:r>
            <a:r>
              <a:rPr lang="en-ID" dirty="0"/>
              <a:t>. Proses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perintah</a:t>
            </a:r>
            <a:r>
              <a:rPr lang="en-ID" dirty="0"/>
              <a:t> </a:t>
            </a:r>
            <a:r>
              <a:rPr lang="en-ID" dirty="0" err="1"/>
              <a:t>sederhana</a:t>
            </a:r>
            <a:r>
              <a:rPr lang="en-ID" dirty="0"/>
              <a:t> yang </a:t>
            </a:r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seluruh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bot </a:t>
            </a:r>
            <a:r>
              <a:rPr lang="en-ID" dirty="0" err="1"/>
              <a:t>siap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di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operasi</a:t>
            </a:r>
            <a:r>
              <a:rPr lang="en-ID" dirty="0"/>
              <a:t>.</a:t>
            </a:r>
            <a:endParaRPr lang="en-ID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Command :</a:t>
            </a:r>
          </a:p>
          <a:p>
            <a:pPr lvl="0">
              <a:lnSpc>
                <a:spcPct val="150000"/>
              </a:lnSpc>
            </a:pPr>
            <a:r>
              <a:rPr lang="en-ID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HTTPS : </a:t>
            </a:r>
            <a:r>
              <a:rPr lang="en-ID" dirty="0">
                <a:solidFill>
                  <a:srgbClr val="0000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https://github.com/victorasido/WPS.</a:t>
            </a:r>
            <a:r>
              <a:rPr lang="en-ID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</a:t>
            </a:r>
            <a:endParaRPr lang="en-ID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SSH : git clone </a:t>
            </a:r>
            <a:r>
              <a:rPr lang="en-ID" dirty="0" err="1">
                <a:solidFill>
                  <a:srgbClr val="0000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git@github.com:victorasido</a:t>
            </a:r>
            <a:r>
              <a:rPr lang="en-ID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/WPS</a:t>
            </a:r>
            <a:endParaRPr lang="en-ID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GitHub CLI : </a:t>
            </a:r>
            <a:r>
              <a:rPr lang="en-ID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gh</a:t>
            </a:r>
            <a:r>
              <a:rPr lang="en-ID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repo clone </a:t>
            </a:r>
            <a:r>
              <a:rPr lang="en-ID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victorasido</a:t>
            </a:r>
            <a:r>
              <a:rPr lang="en-ID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/WPS</a:t>
            </a:r>
          </a:p>
        </p:txBody>
      </p:sp>
      <p:sp>
        <p:nvSpPr>
          <p:cNvPr id="176" name="Google Shape;176;p19">
            <a:extLst>
              <a:ext uri="{FF2B5EF4-FFF2-40B4-BE49-F238E27FC236}">
                <a16:creationId xmlns:a16="http://schemas.microsoft.com/office/drawing/2014/main" id="{A7740247-B3C1-21C0-7344-F13ED538E9C0}"/>
              </a:ext>
            </a:extLst>
          </p:cNvPr>
          <p:cNvSpPr txBox="1"/>
          <p:nvPr/>
        </p:nvSpPr>
        <p:spPr>
          <a:xfrm>
            <a:off x="762000" y="571500"/>
            <a:ext cx="114014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Preparation</a:t>
            </a:r>
            <a:endParaRPr dirty="0"/>
          </a:p>
        </p:txBody>
      </p:sp>
      <p:sp>
        <p:nvSpPr>
          <p:cNvPr id="177" name="Google Shape;177;p19">
            <a:extLst>
              <a:ext uri="{FF2B5EF4-FFF2-40B4-BE49-F238E27FC236}">
                <a16:creationId xmlns:a16="http://schemas.microsoft.com/office/drawing/2014/main" id="{FD44AB8E-4B22-E01B-A78A-F0FB87B1C2E5}"/>
              </a:ext>
            </a:extLst>
          </p:cNvPr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CF20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816DC6-9DF3-2196-1EDD-E0D0C7C316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786145"/>
            <a:ext cx="4829849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111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28C765F4-D8FF-E247-7EF1-53DE743A0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8E5D2F6-C764-FA52-DF34-EEAF1C8AE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906" y="0"/>
            <a:ext cx="6263094" cy="6858000"/>
          </a:xfrm>
          <a:prstGeom prst="rect">
            <a:avLst/>
          </a:prstGeom>
        </p:spPr>
      </p:pic>
      <p:sp>
        <p:nvSpPr>
          <p:cNvPr id="173" name="Google Shape;173;p19">
            <a:extLst>
              <a:ext uri="{FF2B5EF4-FFF2-40B4-BE49-F238E27FC236}">
                <a16:creationId xmlns:a16="http://schemas.microsoft.com/office/drawing/2014/main" id="{ABFBF8B7-9077-D403-3517-0838AB371A74}"/>
              </a:ext>
            </a:extLst>
          </p:cNvPr>
          <p:cNvSpPr txBox="1"/>
          <p:nvPr/>
        </p:nvSpPr>
        <p:spPr>
          <a:xfrm>
            <a:off x="6256531" y="1060328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Set Up BOT</a:t>
            </a:r>
            <a:endParaRPr dirty="0"/>
          </a:p>
        </p:txBody>
      </p:sp>
      <p:sp>
        <p:nvSpPr>
          <p:cNvPr id="174" name="Google Shape;174;p19">
            <a:extLst>
              <a:ext uri="{FF2B5EF4-FFF2-40B4-BE49-F238E27FC236}">
                <a16:creationId xmlns:a16="http://schemas.microsoft.com/office/drawing/2014/main" id="{906C1ABA-0740-B872-7CD7-1D7D47205D4B}"/>
              </a:ext>
            </a:extLst>
          </p:cNvPr>
          <p:cNvSpPr txBox="1"/>
          <p:nvPr/>
        </p:nvSpPr>
        <p:spPr>
          <a:xfrm>
            <a:off x="6096000" y="1786145"/>
            <a:ext cx="5883797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mengaktifkan</a:t>
            </a:r>
            <a:r>
              <a:rPr lang="en-ID" dirty="0"/>
              <a:t> </a:t>
            </a:r>
            <a:r>
              <a:rPr lang="en-ID" dirty="0" err="1"/>
              <a:t>fungsi</a:t>
            </a:r>
            <a:r>
              <a:rPr lang="en-ID" dirty="0"/>
              <a:t> </a:t>
            </a:r>
            <a:r>
              <a:rPr lang="en-ID" dirty="0" err="1"/>
              <a:t>komunikasi</a:t>
            </a:r>
            <a:r>
              <a:rPr lang="en-ID" dirty="0"/>
              <a:t> bot,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perlu</a:t>
            </a:r>
            <a:r>
              <a:rPr lang="en-ID" dirty="0"/>
              <a:t> </a:t>
            </a:r>
            <a:r>
              <a:rPr lang="en-ID" dirty="0" err="1"/>
              <a:t>mendaftarkan</a:t>
            </a:r>
            <a:r>
              <a:rPr lang="en-ID" dirty="0"/>
              <a:t> </a:t>
            </a:r>
            <a:r>
              <a:rPr lang="en-ID" dirty="0" err="1"/>
              <a:t>identitas</a:t>
            </a:r>
            <a:r>
              <a:rPr lang="en-ID" dirty="0"/>
              <a:t> bot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dirty="0" err="1"/>
              <a:t>layanan</a:t>
            </a:r>
            <a:r>
              <a:rPr lang="en-ID" dirty="0"/>
              <a:t> </a:t>
            </a:r>
            <a:r>
              <a:rPr lang="en-ID" dirty="0" err="1"/>
              <a:t>resmi</a:t>
            </a:r>
            <a:r>
              <a:rPr lang="en-ID" dirty="0"/>
              <a:t> Telegram, </a:t>
            </a:r>
            <a:r>
              <a:rPr lang="en-ID" dirty="0" err="1"/>
              <a:t>yaitu</a:t>
            </a:r>
            <a:r>
              <a:rPr lang="en-ID" dirty="0"/>
              <a:t> @BotFather. </a:t>
            </a:r>
          </a:p>
          <a:p>
            <a:pPr lvl="0" algn="just">
              <a:lnSpc>
                <a:spcPct val="150000"/>
              </a:lnSpc>
            </a:pPr>
            <a:r>
              <a:rPr lang="en-ID" dirty="0"/>
              <a:t>Langkah – Langkah:</a:t>
            </a:r>
          </a:p>
          <a:p>
            <a:pPr lvl="0" algn="just">
              <a:lnSpc>
                <a:spcPct val="150000"/>
              </a:lnSpc>
            </a:pPr>
            <a:r>
              <a:rPr lang="en-ID" dirty="0"/>
              <a:t>- </a:t>
            </a:r>
            <a:r>
              <a:rPr lang="en-ID" dirty="0" err="1"/>
              <a:t>Jalankan</a:t>
            </a:r>
            <a:r>
              <a:rPr lang="en-ID" dirty="0"/>
              <a:t> command /start </a:t>
            </a:r>
          </a:p>
          <a:p>
            <a:pPr lvl="0" algn="just">
              <a:lnSpc>
                <a:spcPct val="150000"/>
              </a:lnSpc>
            </a:pPr>
            <a:r>
              <a:rPr lang="en-ID" dirty="0"/>
              <a:t>- </a:t>
            </a:r>
            <a:r>
              <a:rPr lang="en-ID" dirty="0" err="1"/>
              <a:t>Jalankan</a:t>
            </a:r>
            <a:r>
              <a:rPr lang="en-ID" dirty="0"/>
              <a:t> command  /</a:t>
            </a:r>
            <a:r>
              <a:rPr lang="en-ID" dirty="0" err="1"/>
              <a:t>newbot</a:t>
            </a:r>
            <a:r>
              <a:rPr lang="en-ID" dirty="0"/>
              <a:t> </a:t>
            </a:r>
          </a:p>
          <a:p>
            <a:pPr lvl="0" algn="just">
              <a:lnSpc>
                <a:spcPct val="150000"/>
              </a:lnSpc>
            </a:pPr>
            <a:r>
              <a:rPr lang="en-ID" dirty="0"/>
              <a:t>- </a:t>
            </a:r>
            <a:r>
              <a:rPr lang="en-ID" dirty="0" err="1"/>
              <a:t>Regristrasi</a:t>
            </a:r>
            <a:r>
              <a:rPr lang="en-ID" dirty="0"/>
              <a:t> nama </a:t>
            </a:r>
            <a:r>
              <a:rPr lang="en-ID" dirty="0" err="1"/>
              <a:t>panggilan</a:t>
            </a:r>
            <a:r>
              <a:rPr lang="en-ID" dirty="0"/>
              <a:t> bot.</a:t>
            </a:r>
          </a:p>
          <a:p>
            <a:pPr lvl="0" algn="just">
              <a:lnSpc>
                <a:spcPct val="150000"/>
              </a:lnSpc>
            </a:pPr>
            <a:r>
              <a:rPr lang="en-ID" dirty="0"/>
              <a:t>- </a:t>
            </a:r>
            <a:r>
              <a:rPr lang="en-ID" dirty="0" err="1"/>
              <a:t>Registrasi</a:t>
            </a:r>
            <a:r>
              <a:rPr lang="en-ID" dirty="0"/>
              <a:t> username </a:t>
            </a:r>
            <a:r>
              <a:rPr lang="en-ID" dirty="0" err="1"/>
              <a:t>unik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bot Anda. (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akhiran</a:t>
            </a:r>
            <a:r>
              <a:rPr lang="en-ID" dirty="0"/>
              <a:t> bot)</a:t>
            </a:r>
          </a:p>
          <a:p>
            <a:pPr lvl="0" algn="just">
              <a:lnSpc>
                <a:spcPct val="150000"/>
              </a:lnSpc>
            </a:pP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pendaftaran</a:t>
            </a:r>
            <a:r>
              <a:rPr lang="en-ID" dirty="0"/>
              <a:t> </a:t>
            </a:r>
            <a:r>
              <a:rPr lang="en-ID" dirty="0" err="1"/>
              <a:t>selesai</a:t>
            </a:r>
            <a:r>
              <a:rPr lang="en-ID" dirty="0"/>
              <a:t>, @BotFather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token </a:t>
            </a:r>
            <a:r>
              <a:rPr lang="en-ID" dirty="0" err="1"/>
              <a:t>rahasia</a:t>
            </a:r>
            <a:r>
              <a:rPr lang="en-ID" dirty="0"/>
              <a:t> yang </a:t>
            </a:r>
            <a:r>
              <a:rPr lang="en-ID" dirty="0" err="1"/>
              <a:t>berfungsi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kunci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agar program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terhubung</a:t>
            </a:r>
            <a:r>
              <a:rPr lang="en-ID" dirty="0"/>
              <a:t> dan </a:t>
            </a:r>
            <a:r>
              <a:rPr lang="en-ID" dirty="0" err="1"/>
              <a:t>beroperasi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sah</a:t>
            </a:r>
            <a:r>
              <a:rPr lang="en-ID" dirty="0"/>
              <a:t> di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ekosistem</a:t>
            </a:r>
            <a:r>
              <a:rPr lang="en-ID" dirty="0"/>
              <a:t> Telegram.</a:t>
            </a:r>
            <a:endParaRPr lang="en-ID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6" name="Google Shape;176;p19">
            <a:extLst>
              <a:ext uri="{FF2B5EF4-FFF2-40B4-BE49-F238E27FC236}">
                <a16:creationId xmlns:a16="http://schemas.microsoft.com/office/drawing/2014/main" id="{3170C278-1A19-EDDD-D82C-23F55C0EF4B1}"/>
              </a:ext>
            </a:extLst>
          </p:cNvPr>
          <p:cNvSpPr txBox="1"/>
          <p:nvPr/>
        </p:nvSpPr>
        <p:spPr>
          <a:xfrm>
            <a:off x="762000" y="571500"/>
            <a:ext cx="114014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Preparation</a:t>
            </a:r>
            <a:endParaRPr dirty="0"/>
          </a:p>
        </p:txBody>
      </p:sp>
      <p:sp>
        <p:nvSpPr>
          <p:cNvPr id="177" name="Google Shape;177;p19">
            <a:extLst>
              <a:ext uri="{FF2B5EF4-FFF2-40B4-BE49-F238E27FC236}">
                <a16:creationId xmlns:a16="http://schemas.microsoft.com/office/drawing/2014/main" id="{1D31FCAF-1C51-87F4-3799-4A380C388BB6}"/>
              </a:ext>
            </a:extLst>
          </p:cNvPr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CF20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201788-1147-72E3-68AF-7FA3F21CEF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442" y="3196894"/>
            <a:ext cx="3336182" cy="32053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3DAD2C-7ECF-4227-6427-D2534740E4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244994"/>
            <a:ext cx="4079067" cy="1463482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CDC0977-00B7-01CD-9D40-93B349B8965F}"/>
              </a:ext>
            </a:extLst>
          </p:cNvPr>
          <p:cNvCxnSpPr>
            <a:cxnSpLocks/>
            <a:stCxn id="8" idx="2"/>
            <a:endCxn id="6" idx="0"/>
          </p:cNvCxnSpPr>
          <p:nvPr/>
        </p:nvCxnSpPr>
        <p:spPr>
          <a:xfrm flipH="1">
            <a:off x="2801533" y="2708476"/>
            <a:ext cx="1" cy="4884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585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52700"/>
            <a:ext cx="5286375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552700"/>
            <a:ext cx="5286375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952500" y="2971800"/>
            <a:ext cx="47505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Step 1: Setup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952500" y="3571875"/>
            <a:ext cx="4524375" cy="86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1. Clone repository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kodenya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2. Copy file .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env.example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menjadi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.env.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3. Masukkan BOT_TOKEN. (generate via @Botfather)</a:t>
            </a:r>
            <a:endParaRPr dirty="0"/>
          </a:p>
        </p:txBody>
      </p:sp>
      <p:sp>
        <p:nvSpPr>
          <p:cNvPr id="195" name="Google Shape;195;p21"/>
          <p:cNvSpPr txBox="1"/>
          <p:nvPr/>
        </p:nvSpPr>
        <p:spPr>
          <a:xfrm>
            <a:off x="6715125" y="2971800"/>
            <a:ext cx="47505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Step 2: Launch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6715125" y="3571875"/>
            <a:ext cx="4524375" cy="1442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Jalankan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perintah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docker-compose up -d --build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Sistem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akan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otomatis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membangun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container dan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mensetup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library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maupun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run program yang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siap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digunakan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97" name="Google Shape;197;p21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LANGKAH INSTALASI</a:t>
            </a:r>
            <a:endParaRPr dirty="0"/>
          </a:p>
        </p:txBody>
      </p:sp>
      <p:sp>
        <p:nvSpPr>
          <p:cNvPr id="198" name="Google Shape;198;p21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CF20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EC94B16D-36CD-7170-60F4-5BE12EEEF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0" descr="image.png">
            <a:extLst>
              <a:ext uri="{FF2B5EF4-FFF2-40B4-BE49-F238E27FC236}">
                <a16:creationId xmlns:a16="http://schemas.microsoft.com/office/drawing/2014/main" id="{B671E121-CC96-B123-279E-E8CFE5D8AC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>
            <a:extLst>
              <a:ext uri="{FF2B5EF4-FFF2-40B4-BE49-F238E27FC236}">
                <a16:creationId xmlns:a16="http://schemas.microsoft.com/office/drawing/2014/main" id="{169BD944-508E-71A0-3358-E91713DCDE1E}"/>
              </a:ext>
            </a:extLst>
          </p:cNvPr>
          <p:cNvSpPr/>
          <p:nvPr/>
        </p:nvSpPr>
        <p:spPr>
          <a:xfrm>
            <a:off x="5619750" y="2767012"/>
            <a:ext cx="952500" cy="38100"/>
          </a:xfrm>
          <a:prstGeom prst="rect">
            <a:avLst/>
          </a:prstGeom>
          <a:solidFill>
            <a:srgbClr val="CF20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>
            <a:extLst>
              <a:ext uri="{FF2B5EF4-FFF2-40B4-BE49-F238E27FC236}">
                <a16:creationId xmlns:a16="http://schemas.microsoft.com/office/drawing/2014/main" id="{CBBD208B-86AA-3D2A-93FA-3C68CF3226A7}"/>
              </a:ext>
            </a:extLst>
          </p:cNvPr>
          <p:cNvSpPr txBox="1"/>
          <p:nvPr/>
        </p:nvSpPr>
        <p:spPr>
          <a:xfrm>
            <a:off x="2067823" y="3005138"/>
            <a:ext cx="8056353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PANDUAN PENGUNAAN</a:t>
            </a:r>
            <a:endParaRPr dirty="0"/>
          </a:p>
        </p:txBody>
      </p:sp>
      <p:sp>
        <p:nvSpPr>
          <p:cNvPr id="185" name="Google Shape;185;p20">
            <a:extLst>
              <a:ext uri="{FF2B5EF4-FFF2-40B4-BE49-F238E27FC236}">
                <a16:creationId xmlns:a16="http://schemas.microsoft.com/office/drawing/2014/main" id="{4DB58B76-CBAB-5217-6C72-5125E586E754}"/>
              </a:ext>
            </a:extLst>
          </p:cNvPr>
          <p:cNvSpPr txBox="1"/>
          <p:nvPr/>
        </p:nvSpPr>
        <p:spPr>
          <a:xfrm>
            <a:off x="3114675" y="3852862"/>
            <a:ext cx="59626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Akses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dimana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saja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936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4BAA3689-4913-31B9-E4A1-9EBE0BC17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>
            <a:extLst>
              <a:ext uri="{FF2B5EF4-FFF2-40B4-BE49-F238E27FC236}">
                <a16:creationId xmlns:a16="http://schemas.microsoft.com/office/drawing/2014/main" id="{13D74BA1-18F7-996A-C3EC-D20CE780622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>
            <a:extLst>
              <a:ext uri="{FF2B5EF4-FFF2-40B4-BE49-F238E27FC236}">
                <a16:creationId xmlns:a16="http://schemas.microsoft.com/office/drawing/2014/main" id="{B6EF7E7F-9677-F13D-37FB-715CE6A2377E}"/>
              </a:ext>
            </a:extLst>
          </p:cNvPr>
          <p:cNvSpPr txBox="1"/>
          <p:nvPr/>
        </p:nvSpPr>
        <p:spPr>
          <a:xfrm>
            <a:off x="6334125" y="1830340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CF2030"/>
                </a:solidFill>
                <a:latin typeface="Poppins"/>
                <a:cs typeface="Poppins"/>
                <a:sym typeface="Poppins"/>
              </a:rPr>
              <a:t>Aktivasi</a:t>
            </a:r>
            <a:r>
              <a:rPr lang="en-US" sz="2400" b="1" dirty="0">
                <a:solidFill>
                  <a:srgbClr val="CF2030"/>
                </a:solidFill>
                <a:latin typeface="Poppins"/>
                <a:cs typeface="Poppins"/>
                <a:sym typeface="Poppins"/>
              </a:rPr>
              <a:t> Bot dan Input </a:t>
            </a:r>
            <a:r>
              <a:rPr lang="en-US" sz="2400" b="1" dirty="0" err="1">
                <a:solidFill>
                  <a:srgbClr val="CF2030"/>
                </a:solidFill>
                <a:latin typeface="Poppins"/>
                <a:cs typeface="Poppins"/>
                <a:sym typeface="Poppins"/>
              </a:rPr>
              <a:t>dokument</a:t>
            </a:r>
            <a:endParaRPr dirty="0"/>
          </a:p>
        </p:txBody>
      </p:sp>
      <p:sp>
        <p:nvSpPr>
          <p:cNvPr id="174" name="Google Shape;174;p19">
            <a:extLst>
              <a:ext uri="{FF2B5EF4-FFF2-40B4-BE49-F238E27FC236}">
                <a16:creationId xmlns:a16="http://schemas.microsoft.com/office/drawing/2014/main" id="{626A0FA2-D091-7585-DC8E-99D1120F9C34}"/>
              </a:ext>
            </a:extLst>
          </p:cNvPr>
          <p:cNvSpPr txBox="1"/>
          <p:nvPr/>
        </p:nvSpPr>
        <p:spPr>
          <a:xfrm>
            <a:off x="6334125" y="2360202"/>
            <a:ext cx="5286375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Cukup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ketik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/start. Bot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akan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menyapa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anda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dengan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panduan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singkat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/sign : </a:t>
            </a:r>
            <a:r>
              <a:rPr lang="en-US" dirty="0" err="1">
                <a:solidFill>
                  <a:schemeClr val="bg1"/>
                </a:solidFill>
              </a:rPr>
              <a:t>untuk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memulai</a:t>
            </a:r>
            <a:r>
              <a:rPr lang="en-US" dirty="0">
                <a:solidFill>
                  <a:schemeClr val="bg1"/>
                </a:solidFill>
              </a:rPr>
              <a:t> proses TTD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/help : </a:t>
            </a:r>
            <a:r>
              <a:rPr lang="en-US" dirty="0" err="1">
                <a:solidFill>
                  <a:schemeClr val="bg1"/>
                </a:solidFill>
              </a:rPr>
              <a:t>untuk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panduan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pengunaan</a:t>
            </a:r>
            <a:endParaRPr lang="en-US" dirty="0">
              <a:solidFill>
                <a:schemeClr val="bg1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6" name="Google Shape;176;p19">
            <a:extLst>
              <a:ext uri="{FF2B5EF4-FFF2-40B4-BE49-F238E27FC236}">
                <a16:creationId xmlns:a16="http://schemas.microsoft.com/office/drawing/2014/main" id="{AB983B56-FA3D-606C-169B-C851C422C3D0}"/>
              </a:ext>
            </a:extLst>
          </p:cNvPr>
          <p:cNvSpPr txBox="1"/>
          <p:nvPr/>
        </p:nvSpPr>
        <p:spPr>
          <a:xfrm>
            <a:off x="762000" y="571500"/>
            <a:ext cx="114014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Poppins SemiBold"/>
                <a:cs typeface="Poppins SemiBold"/>
                <a:sym typeface="Poppins SemiBold"/>
              </a:rPr>
              <a:t>Step by step</a:t>
            </a:r>
            <a:endParaRPr dirty="0"/>
          </a:p>
        </p:txBody>
      </p:sp>
      <p:sp>
        <p:nvSpPr>
          <p:cNvPr id="177" name="Google Shape;177;p19">
            <a:extLst>
              <a:ext uri="{FF2B5EF4-FFF2-40B4-BE49-F238E27FC236}">
                <a16:creationId xmlns:a16="http://schemas.microsoft.com/office/drawing/2014/main" id="{EA31DD49-AF07-1057-C856-54576A3C1A77}"/>
              </a:ext>
            </a:extLst>
          </p:cNvPr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CF20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ECA10D-5FCB-40E7-4DA8-FB9D37AE6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685" y="1830340"/>
            <a:ext cx="5333191" cy="39510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E59F307-2762-95E6-C1F1-8E04A7000A9C}"/>
              </a:ext>
            </a:extLst>
          </p:cNvPr>
          <p:cNvSpPr txBox="1"/>
          <p:nvPr/>
        </p:nvSpPr>
        <p:spPr>
          <a:xfrm>
            <a:off x="6215062" y="3824478"/>
            <a:ext cx="5839286" cy="1667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Setelah</a:t>
            </a:r>
            <a:r>
              <a:rPr lang="en-US" sz="14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menggunakan</a:t>
            </a:r>
            <a:r>
              <a:rPr lang="en-US" sz="14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command /sign, bot </a:t>
            </a:r>
            <a:r>
              <a:rPr lang="en-US" sz="14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akan</a:t>
            </a:r>
            <a:r>
              <a:rPr lang="en-US" sz="14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meminta</a:t>
            </a:r>
            <a:r>
              <a:rPr lang="en-US" sz="14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dokumen</a:t>
            </a:r>
            <a:r>
              <a:rPr lang="en-US" sz="14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yang </a:t>
            </a:r>
            <a:r>
              <a:rPr lang="en-US" sz="14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anda</a:t>
            </a:r>
            <a:r>
              <a:rPr lang="en-US" sz="14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ingin</a:t>
            </a:r>
            <a:r>
              <a:rPr lang="en-US" sz="14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tanda</a:t>
            </a:r>
            <a:r>
              <a:rPr lang="en-US" sz="14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tangani</a:t>
            </a:r>
            <a:r>
              <a:rPr lang="en-US" sz="1400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 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Anda </a:t>
            </a:r>
            <a:r>
              <a:rPr lang="en-US" sz="1400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bisa</a:t>
            </a:r>
            <a:r>
              <a:rPr lang="en-US" sz="1400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00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langsung</a:t>
            </a:r>
            <a:r>
              <a:rPr lang="en-US" sz="1400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00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mensubmit</a:t>
            </a:r>
            <a:r>
              <a:rPr lang="en-US" sz="1400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via menu telegram. </a:t>
            </a:r>
            <a:r>
              <a:rPr lang="en-US" sz="1400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Dokumen</a:t>
            </a:r>
            <a:r>
              <a:rPr lang="en-US" sz="1400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yang </a:t>
            </a:r>
            <a:r>
              <a:rPr lang="en-US" sz="1400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disupport</a:t>
            </a:r>
            <a:r>
              <a:rPr lang="en-US" sz="1400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00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hanya</a:t>
            </a:r>
            <a:r>
              <a:rPr lang="en-US" sz="1400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format word dan pdf. 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4408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B5F2EF42-5F5A-59C7-0BB9-7EB7114C0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>
            <a:extLst>
              <a:ext uri="{FF2B5EF4-FFF2-40B4-BE49-F238E27FC236}">
                <a16:creationId xmlns:a16="http://schemas.microsoft.com/office/drawing/2014/main" id="{5FEA4369-44B2-7398-625F-A9BAB13FC3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>
            <a:extLst>
              <a:ext uri="{FF2B5EF4-FFF2-40B4-BE49-F238E27FC236}">
                <a16:creationId xmlns:a16="http://schemas.microsoft.com/office/drawing/2014/main" id="{49156787-3480-3EED-C00E-8103D0CBCB49}"/>
              </a:ext>
            </a:extLst>
          </p:cNvPr>
          <p:cNvSpPr txBox="1"/>
          <p:nvPr/>
        </p:nvSpPr>
        <p:spPr>
          <a:xfrm>
            <a:off x="5764238" y="1524818"/>
            <a:ext cx="555069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Proses Input Tanda Tangan dan </a:t>
            </a:r>
            <a:r>
              <a:rPr lang="en-US" sz="2400" b="1" i="0" u="none" strike="noStrike" cap="none" dirty="0" err="1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Ouput</a:t>
            </a:r>
            <a:endParaRPr dirty="0"/>
          </a:p>
        </p:txBody>
      </p:sp>
      <p:sp>
        <p:nvSpPr>
          <p:cNvPr id="176" name="Google Shape;176;p19">
            <a:extLst>
              <a:ext uri="{FF2B5EF4-FFF2-40B4-BE49-F238E27FC236}">
                <a16:creationId xmlns:a16="http://schemas.microsoft.com/office/drawing/2014/main" id="{54FEF0FF-AA20-9422-4760-3B1930586CF6}"/>
              </a:ext>
            </a:extLst>
          </p:cNvPr>
          <p:cNvSpPr txBox="1"/>
          <p:nvPr/>
        </p:nvSpPr>
        <p:spPr>
          <a:xfrm>
            <a:off x="762000" y="571500"/>
            <a:ext cx="114014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Poppins SemiBold"/>
                <a:cs typeface="Poppins SemiBold"/>
                <a:sym typeface="Poppins SemiBold"/>
              </a:rPr>
              <a:t>Step by step</a:t>
            </a:r>
            <a:endParaRPr dirty="0"/>
          </a:p>
        </p:txBody>
      </p:sp>
      <p:sp>
        <p:nvSpPr>
          <p:cNvPr id="177" name="Google Shape;177;p19">
            <a:extLst>
              <a:ext uri="{FF2B5EF4-FFF2-40B4-BE49-F238E27FC236}">
                <a16:creationId xmlns:a16="http://schemas.microsoft.com/office/drawing/2014/main" id="{3065EDAE-D1A5-918B-674F-8BDCEFEEB443}"/>
              </a:ext>
            </a:extLst>
          </p:cNvPr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CF20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F4C4FB-CFC0-942E-B3CF-6AB57AA19B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594"/>
          <a:stretch>
            <a:fillRect/>
          </a:stretch>
        </p:blipFill>
        <p:spPr>
          <a:xfrm>
            <a:off x="1145788" y="1494912"/>
            <a:ext cx="3340132" cy="29103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BF6E4E-66A0-1D7C-81D6-58982F9BF0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5788" y="4867007"/>
            <a:ext cx="3340132" cy="157270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5DC1626-EE61-5EC0-0784-29FC29FF70A8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2815854" y="4405260"/>
            <a:ext cx="0" cy="46174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A56BD4A-4E00-CF4B-5214-F319151F7952}"/>
              </a:ext>
            </a:extLst>
          </p:cNvPr>
          <p:cNvSpPr txBox="1"/>
          <p:nvPr/>
        </p:nvSpPr>
        <p:spPr>
          <a:xfrm>
            <a:off x="5660283" y="2409747"/>
            <a:ext cx="6110748" cy="1019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Setelah</a:t>
            </a:r>
            <a:r>
              <a:rPr lang="en-US" sz="1400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proses input dan scan </a:t>
            </a:r>
            <a:r>
              <a:rPr lang="en-US" sz="1400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dokumen</a:t>
            </a:r>
            <a:r>
              <a:rPr lang="en-US" sz="1400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4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Sama </a:t>
            </a:r>
            <a:r>
              <a:rPr lang="en-US" sz="14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seperti</a:t>
            </a:r>
            <a:r>
              <a:rPr lang="en-US" sz="14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proses input </a:t>
            </a:r>
            <a:r>
              <a:rPr lang="en-US" sz="14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dokumen</a:t>
            </a:r>
            <a:r>
              <a:rPr lang="en-US" sz="1400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4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bot </a:t>
            </a:r>
            <a:r>
              <a:rPr lang="en-US" sz="14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akan</a:t>
            </a:r>
            <a:r>
              <a:rPr lang="en-US" sz="14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meminta</a:t>
            </a:r>
            <a:r>
              <a:rPr lang="en-US" sz="14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tanda</a:t>
            </a:r>
            <a:r>
              <a:rPr lang="en-US" sz="14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tangan</a:t>
            </a:r>
            <a:r>
              <a:rPr lang="en-US" sz="14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yang </a:t>
            </a:r>
            <a:r>
              <a:rPr lang="en-US" sz="14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anda</a:t>
            </a:r>
            <a:r>
              <a:rPr lang="en-US" sz="14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ingin</a:t>
            </a:r>
            <a:r>
              <a:rPr lang="en-US" sz="14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disisipkan</a:t>
            </a:r>
            <a:r>
              <a:rPr lang="en-US" sz="14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ke</a:t>
            </a:r>
            <a:r>
              <a:rPr lang="en-US" sz="14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dokumen</a:t>
            </a:r>
            <a:r>
              <a:rPr lang="en-US" sz="14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 Lalu </a:t>
            </a:r>
            <a:r>
              <a:rPr lang="en-US" sz="14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klik</a:t>
            </a:r>
            <a:r>
              <a:rPr lang="en-US" sz="14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process.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87FCAB-3C96-25CF-F773-1ACAC1683B6E}"/>
              </a:ext>
            </a:extLst>
          </p:cNvPr>
          <p:cNvSpPr txBox="1"/>
          <p:nvPr/>
        </p:nvSpPr>
        <p:spPr>
          <a:xfrm>
            <a:off x="5660283" y="3575265"/>
            <a:ext cx="6110748" cy="231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BOT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akan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menginject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tanda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tangan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anda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keslot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tanda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tangan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yang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cocok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dengan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keyword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dari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nama file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anda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Lalu bot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akan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memberikan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output file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dokumen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yang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sudah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ditanda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tangani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berupa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pdf yang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bisa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anda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download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Klik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logo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untuk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download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dokumen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D3377F6-6A89-80F7-CFA4-B8A99705E1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8103" y="5384021"/>
            <a:ext cx="752580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062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9112DB17-503F-9AE0-6FC8-419FFBCCE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>
            <a:extLst>
              <a:ext uri="{FF2B5EF4-FFF2-40B4-BE49-F238E27FC236}">
                <a16:creationId xmlns:a16="http://schemas.microsoft.com/office/drawing/2014/main" id="{694D3846-523D-B7FB-D421-F325CE48286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>
            <a:extLst>
              <a:ext uri="{FF2B5EF4-FFF2-40B4-BE49-F238E27FC236}">
                <a16:creationId xmlns:a16="http://schemas.microsoft.com/office/drawing/2014/main" id="{66819284-4F53-426F-85CB-3F626E9CDE59}"/>
              </a:ext>
            </a:extLst>
          </p:cNvPr>
          <p:cNvSpPr txBox="1"/>
          <p:nvPr/>
        </p:nvSpPr>
        <p:spPr>
          <a:xfrm>
            <a:off x="723662" y="1394049"/>
            <a:ext cx="88136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Tampilan</a:t>
            </a:r>
            <a:r>
              <a:rPr lang="en-US" sz="2400" b="1" i="0" u="none" strike="noStrike" cap="none" dirty="0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b="1" i="0" u="none" strike="noStrike" cap="none" dirty="0" err="1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tanda</a:t>
            </a:r>
            <a:r>
              <a:rPr lang="en-US" sz="2400" b="1" i="0" u="none" strike="noStrike" cap="none" dirty="0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b="1" i="0" u="none" strike="noStrike" cap="none" dirty="0" err="1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tangan</a:t>
            </a:r>
            <a:r>
              <a:rPr lang="en-US" sz="2400" b="1" i="0" u="none" strike="noStrike" cap="none" dirty="0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 yang </a:t>
            </a:r>
            <a:r>
              <a:rPr lang="en-US" sz="2400" b="1" i="0" u="none" strike="noStrike" cap="none" dirty="0" err="1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diinject</a:t>
            </a:r>
            <a:endParaRPr dirty="0"/>
          </a:p>
        </p:txBody>
      </p:sp>
      <p:sp>
        <p:nvSpPr>
          <p:cNvPr id="174" name="Google Shape;174;p19">
            <a:extLst>
              <a:ext uri="{FF2B5EF4-FFF2-40B4-BE49-F238E27FC236}">
                <a16:creationId xmlns:a16="http://schemas.microsoft.com/office/drawing/2014/main" id="{958E0EBB-F6FD-E085-00E9-D64401C864D2}"/>
              </a:ext>
            </a:extLst>
          </p:cNvPr>
          <p:cNvSpPr txBox="1"/>
          <p:nvPr/>
        </p:nvSpPr>
        <p:spPr>
          <a:xfrm>
            <a:off x="5988767" y="2160764"/>
            <a:ext cx="5286375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BOT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akan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menginject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tanda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tangan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anda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keslot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tanda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tangan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yang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cocok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dengan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keyword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dari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nama file </a:t>
            </a:r>
            <a:r>
              <a:rPr lang="en-US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anda</a:t>
            </a:r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6" name="Google Shape;176;p19">
            <a:extLst>
              <a:ext uri="{FF2B5EF4-FFF2-40B4-BE49-F238E27FC236}">
                <a16:creationId xmlns:a16="http://schemas.microsoft.com/office/drawing/2014/main" id="{3219ECF3-58E2-D86A-1E06-BEF68AC07494}"/>
              </a:ext>
            </a:extLst>
          </p:cNvPr>
          <p:cNvSpPr txBox="1"/>
          <p:nvPr/>
        </p:nvSpPr>
        <p:spPr>
          <a:xfrm>
            <a:off x="762000" y="571500"/>
            <a:ext cx="114014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Poppins SemiBold"/>
                <a:cs typeface="Poppins SemiBold"/>
                <a:sym typeface="Poppins SemiBold"/>
              </a:rPr>
              <a:t>Output</a:t>
            </a:r>
            <a:endParaRPr dirty="0"/>
          </a:p>
        </p:txBody>
      </p:sp>
      <p:sp>
        <p:nvSpPr>
          <p:cNvPr id="177" name="Google Shape;177;p19">
            <a:extLst>
              <a:ext uri="{FF2B5EF4-FFF2-40B4-BE49-F238E27FC236}">
                <a16:creationId xmlns:a16="http://schemas.microsoft.com/office/drawing/2014/main" id="{E6AE3F99-D378-8CC5-E4B2-41BD1ED4C259}"/>
              </a:ext>
            </a:extLst>
          </p:cNvPr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CF20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473278-9BEF-ED18-2772-A501DBFA05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41856"/>
            <a:ext cx="5188038" cy="32976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588A79-8385-65C9-40E7-2FC4630FD3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7646" y="2891248"/>
            <a:ext cx="4305901" cy="1076475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0CE432F-93E8-C532-BA99-0522FF1D3BE5}"/>
              </a:ext>
            </a:extLst>
          </p:cNvPr>
          <p:cNvCxnSpPr>
            <a:cxnSpLocks/>
          </p:cNvCxnSpPr>
          <p:nvPr/>
        </p:nvCxnSpPr>
        <p:spPr>
          <a:xfrm flipH="1">
            <a:off x="4590170" y="3258416"/>
            <a:ext cx="3373959" cy="18362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1D7764A-416C-1C20-3C08-0D1597E43CCB}"/>
              </a:ext>
            </a:extLst>
          </p:cNvPr>
          <p:cNvSpPr txBox="1"/>
          <p:nvPr/>
        </p:nvSpPr>
        <p:spPr>
          <a:xfrm>
            <a:off x="5888440" y="4581025"/>
            <a:ext cx="6174658" cy="1808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buNone/>
            </a:pP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Tips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praktis</a:t>
            </a:r>
            <a:endParaRPr lang="en-ID" sz="1200" b="1" i="0" dirty="0"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Namai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file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tanda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tangan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dengan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teks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yang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jelas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(mis. Nama Jabatan.png)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supaya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keyword matching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lebih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akurat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Untuk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kualitas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terbaik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kirim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tanda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tangan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sebagai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File (PNG)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bukan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Photo.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Jika PDF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besar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bot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hanya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scan page 1 + 2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halaman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terakhir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—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pastikan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keyword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ada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di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akhir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atau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sebutkan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manual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saat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diminta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Jika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hasil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tidak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muncul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periksa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logs dan keyword yang </a:t>
            </a:r>
            <a:r>
              <a:rPr lang="en-ID" sz="1200" b="1" i="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dipakai</a:t>
            </a:r>
            <a:r>
              <a:rPr lang="en-ID" sz="12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7795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43C26620-076F-D50F-A4F4-67857295C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0" descr="image.png">
            <a:extLst>
              <a:ext uri="{FF2B5EF4-FFF2-40B4-BE49-F238E27FC236}">
                <a16:creationId xmlns:a16="http://schemas.microsoft.com/office/drawing/2014/main" id="{6AEC51AD-1B8D-3C7E-475A-E5395FBCD6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>
            <a:extLst>
              <a:ext uri="{FF2B5EF4-FFF2-40B4-BE49-F238E27FC236}">
                <a16:creationId xmlns:a16="http://schemas.microsoft.com/office/drawing/2014/main" id="{24415E9E-E609-6DFE-C976-B483AE9CCECF}"/>
              </a:ext>
            </a:extLst>
          </p:cNvPr>
          <p:cNvSpPr/>
          <p:nvPr/>
        </p:nvSpPr>
        <p:spPr>
          <a:xfrm>
            <a:off x="5619750" y="2767012"/>
            <a:ext cx="952500" cy="38100"/>
          </a:xfrm>
          <a:prstGeom prst="rect">
            <a:avLst/>
          </a:prstGeom>
          <a:solidFill>
            <a:srgbClr val="CF20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>
            <a:extLst>
              <a:ext uri="{FF2B5EF4-FFF2-40B4-BE49-F238E27FC236}">
                <a16:creationId xmlns:a16="http://schemas.microsoft.com/office/drawing/2014/main" id="{839BD886-F821-94A8-5D68-0AB4BD0A0465}"/>
              </a:ext>
            </a:extLst>
          </p:cNvPr>
          <p:cNvSpPr txBox="1"/>
          <p:nvPr/>
        </p:nvSpPr>
        <p:spPr>
          <a:xfrm>
            <a:off x="2067823" y="3005138"/>
            <a:ext cx="8056353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 Logic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06282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7B0BF7F1-EF33-A0F2-494E-DDC4BD289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>
            <a:extLst>
              <a:ext uri="{FF2B5EF4-FFF2-40B4-BE49-F238E27FC236}">
                <a16:creationId xmlns:a16="http://schemas.microsoft.com/office/drawing/2014/main" id="{17A1BDA3-2D43-9922-4359-F6A8506F63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8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>
            <a:extLst>
              <a:ext uri="{FF2B5EF4-FFF2-40B4-BE49-F238E27FC236}">
                <a16:creationId xmlns:a16="http://schemas.microsoft.com/office/drawing/2014/main" id="{FE216F92-02F9-70E5-9AF1-DE4B8050FEE7}"/>
              </a:ext>
            </a:extLst>
          </p:cNvPr>
          <p:cNvSpPr txBox="1"/>
          <p:nvPr/>
        </p:nvSpPr>
        <p:spPr>
          <a:xfrm>
            <a:off x="783432" y="1727724"/>
            <a:ext cx="33952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CF2030"/>
                </a:solidFill>
                <a:latin typeface="Poppins"/>
                <a:cs typeface="Poppins"/>
                <a:sym typeface="Poppins"/>
              </a:rPr>
              <a:t>Format </a:t>
            </a:r>
            <a:r>
              <a:rPr lang="en-US" sz="2400" b="1" dirty="0" err="1">
                <a:solidFill>
                  <a:srgbClr val="CF2030"/>
                </a:solidFill>
                <a:latin typeface="Poppins"/>
                <a:cs typeface="Poppins"/>
                <a:sym typeface="Poppins"/>
              </a:rPr>
              <a:t>Dokumen</a:t>
            </a:r>
            <a:endParaRPr dirty="0"/>
          </a:p>
        </p:txBody>
      </p:sp>
      <p:sp>
        <p:nvSpPr>
          <p:cNvPr id="176" name="Google Shape;176;p19">
            <a:extLst>
              <a:ext uri="{FF2B5EF4-FFF2-40B4-BE49-F238E27FC236}">
                <a16:creationId xmlns:a16="http://schemas.microsoft.com/office/drawing/2014/main" id="{FD6AC5EE-3538-64FF-3209-3214EFD042D5}"/>
              </a:ext>
            </a:extLst>
          </p:cNvPr>
          <p:cNvSpPr txBox="1"/>
          <p:nvPr/>
        </p:nvSpPr>
        <p:spPr>
          <a:xfrm>
            <a:off x="762000" y="571500"/>
            <a:ext cx="114014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Poppins SemiBold"/>
                <a:cs typeface="Poppins SemiBold"/>
                <a:sym typeface="Poppins SemiBold"/>
              </a:rPr>
              <a:t>Compatible File Formats</a:t>
            </a:r>
            <a:endParaRPr dirty="0"/>
          </a:p>
        </p:txBody>
      </p:sp>
      <p:sp>
        <p:nvSpPr>
          <p:cNvPr id="177" name="Google Shape;177;p19">
            <a:extLst>
              <a:ext uri="{FF2B5EF4-FFF2-40B4-BE49-F238E27FC236}">
                <a16:creationId xmlns:a16="http://schemas.microsoft.com/office/drawing/2014/main" id="{6AAF5C69-3B10-5627-7D73-CD3602720AAC}"/>
              </a:ext>
            </a:extLst>
          </p:cNvPr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CF20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6F74C-B0DA-CC49-A03F-F15149125E43}"/>
              </a:ext>
            </a:extLst>
          </p:cNvPr>
          <p:cNvSpPr txBox="1"/>
          <p:nvPr/>
        </p:nvSpPr>
        <p:spPr>
          <a:xfrm>
            <a:off x="6462711" y="1727724"/>
            <a:ext cx="37038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400" b="1" dirty="0">
                <a:solidFill>
                  <a:srgbClr val="CF2030"/>
                </a:solidFill>
                <a:latin typeface="Poppins"/>
                <a:cs typeface="Poppins"/>
                <a:sym typeface="Poppins"/>
              </a:rPr>
              <a:t>Format Tanda Tangan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BE49359-B337-A870-0D49-C48638981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432" y="3888094"/>
            <a:ext cx="1268813" cy="156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8EEC727-DAF0-ECF5-0D94-7637B4DF08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1071" y="3941640"/>
            <a:ext cx="1485900" cy="14097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B4AE5B6-5D9D-3F57-F3DD-04CC20EDE9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0560" y="3888094"/>
            <a:ext cx="1561025" cy="1561025"/>
          </a:xfrm>
          <a:prstGeom prst="rect">
            <a:avLst/>
          </a:prstGeom>
        </p:spPr>
      </p:pic>
      <p:pic>
        <p:nvPicPr>
          <p:cNvPr id="1038" name="Picture 14" descr="SVG file format variant - Free interface icons">
            <a:extLst>
              <a:ext uri="{FF2B5EF4-FFF2-40B4-BE49-F238E27FC236}">
                <a16:creationId xmlns:a16="http://schemas.microsoft.com/office/drawing/2014/main" id="{52052676-2693-86C1-9060-C432D6C60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6554" y="3865976"/>
            <a:ext cx="1561025" cy="156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JPG file format variant - Free interface icons">
            <a:extLst>
              <a:ext uri="{FF2B5EF4-FFF2-40B4-BE49-F238E27FC236}">
                <a16:creationId xmlns:a16="http://schemas.microsoft.com/office/drawing/2014/main" id="{CEB5DE39-484F-20AB-9B26-292E78737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8557" y="3888094"/>
            <a:ext cx="1561025" cy="156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B00805-575E-D5BB-04EC-C1177389EC4B}"/>
              </a:ext>
            </a:extLst>
          </p:cNvPr>
          <p:cNvSpPr txBox="1"/>
          <p:nvPr/>
        </p:nvSpPr>
        <p:spPr>
          <a:xfrm>
            <a:off x="762000" y="2192056"/>
            <a:ext cx="6096000" cy="696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- PDF</a:t>
            </a:r>
            <a:endParaRPr lang="en-US" dirty="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- Word/Docs</a:t>
            </a:r>
          </a:p>
        </p:txBody>
      </p:sp>
      <p:sp>
        <p:nvSpPr>
          <p:cNvPr id="9" name="AutoShape 2" descr="Word Logo png images | PNGEgg">
            <a:extLst>
              <a:ext uri="{FF2B5EF4-FFF2-40B4-BE49-F238E27FC236}">
                <a16:creationId xmlns:a16="http://schemas.microsoft.com/office/drawing/2014/main" id="{E30662BD-9C14-FFD3-FEE3-6D56E976FE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CB6731-1A54-05BD-CBC4-88038B86319F}"/>
              </a:ext>
            </a:extLst>
          </p:cNvPr>
          <p:cNvSpPr txBox="1"/>
          <p:nvPr/>
        </p:nvSpPr>
        <p:spPr>
          <a:xfrm>
            <a:off x="6462711" y="2187860"/>
            <a:ext cx="6174658" cy="1019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- PNG</a:t>
            </a:r>
            <a:endParaRPr lang="en-US" dirty="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- 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JPG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- SVG</a:t>
            </a:r>
          </a:p>
        </p:txBody>
      </p:sp>
    </p:spTree>
    <p:extLst>
      <p:ext uri="{BB962C8B-B14F-4D97-AF65-F5344CB8AC3E}">
        <p14:creationId xmlns:p14="http://schemas.microsoft.com/office/powerpoint/2010/main" val="3956873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78713D7E-F5DD-14D0-219E-065A6F3B6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>
            <a:extLst>
              <a:ext uri="{FF2B5EF4-FFF2-40B4-BE49-F238E27FC236}">
                <a16:creationId xmlns:a16="http://schemas.microsoft.com/office/drawing/2014/main" id="{CD5C46FC-2A63-646C-8AB5-43681AD77C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8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>
            <a:extLst>
              <a:ext uri="{FF2B5EF4-FFF2-40B4-BE49-F238E27FC236}">
                <a16:creationId xmlns:a16="http://schemas.microsoft.com/office/drawing/2014/main" id="{72289258-F424-AD41-A2FD-6321ABFEFBFE}"/>
              </a:ext>
            </a:extLst>
          </p:cNvPr>
          <p:cNvSpPr txBox="1"/>
          <p:nvPr/>
        </p:nvSpPr>
        <p:spPr>
          <a:xfrm>
            <a:off x="762000" y="1376065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Library</a:t>
            </a:r>
            <a:endParaRPr dirty="0"/>
          </a:p>
        </p:txBody>
      </p:sp>
      <p:sp>
        <p:nvSpPr>
          <p:cNvPr id="174" name="Google Shape;174;p19">
            <a:extLst>
              <a:ext uri="{FF2B5EF4-FFF2-40B4-BE49-F238E27FC236}">
                <a16:creationId xmlns:a16="http://schemas.microsoft.com/office/drawing/2014/main" id="{250A2F7E-C3CC-C1E8-F52E-A6BD070FE0A9}"/>
              </a:ext>
            </a:extLst>
          </p:cNvPr>
          <p:cNvSpPr txBox="1"/>
          <p:nvPr/>
        </p:nvSpPr>
        <p:spPr>
          <a:xfrm>
            <a:off x="762000" y="2088297"/>
            <a:ext cx="4779055" cy="3554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Core (</a:t>
            </a: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Pengolahan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Dokumen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)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pymupdf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(Fitz): </a:t>
            </a: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Digunakan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untuk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memanipulasi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file PDF (</a:t>
            </a: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membaca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menyisipkan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gambar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/</a:t>
            </a: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tanda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tangan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).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python-docx: </a:t>
            </a: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Untuk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mengolah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dan </a:t>
            </a: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memanipulasi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file Microsoft Word (.docx).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cairosvg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Untuk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mengonversi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file SVG (</a:t>
            </a: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biasanya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tanda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tangan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digital) </a:t>
            </a: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ke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format lain.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Pillow: Library </a:t>
            </a: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pengolahan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gambar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untuk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menangani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file </a:t>
            </a: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tanda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tangan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docx2pdf: </a:t>
            </a: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Digunakan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untuk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mengonversi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dokumen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Word </a:t>
            </a:r>
            <a:r>
              <a:rPr lang="en-US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ke</a:t>
            </a:r>
            <a:r>
              <a:rPr lang="en-US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PDF.</a:t>
            </a:r>
          </a:p>
        </p:txBody>
      </p:sp>
      <p:sp>
        <p:nvSpPr>
          <p:cNvPr id="176" name="Google Shape;176;p19">
            <a:extLst>
              <a:ext uri="{FF2B5EF4-FFF2-40B4-BE49-F238E27FC236}">
                <a16:creationId xmlns:a16="http://schemas.microsoft.com/office/drawing/2014/main" id="{AC388EF1-1C28-01A5-45A4-E175A47BD753}"/>
              </a:ext>
            </a:extLst>
          </p:cNvPr>
          <p:cNvSpPr txBox="1"/>
          <p:nvPr/>
        </p:nvSpPr>
        <p:spPr>
          <a:xfrm>
            <a:off x="762000" y="571500"/>
            <a:ext cx="114014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Requirements</a:t>
            </a:r>
            <a:endParaRPr dirty="0"/>
          </a:p>
        </p:txBody>
      </p:sp>
      <p:sp>
        <p:nvSpPr>
          <p:cNvPr id="177" name="Google Shape;177;p19">
            <a:extLst>
              <a:ext uri="{FF2B5EF4-FFF2-40B4-BE49-F238E27FC236}">
                <a16:creationId xmlns:a16="http://schemas.microsoft.com/office/drawing/2014/main" id="{6427D182-085E-0B3F-9FAD-B364D84EB5EC}"/>
              </a:ext>
            </a:extLst>
          </p:cNvPr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CF20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592246-D21E-A94C-6F9F-C01904D3BEDE}"/>
              </a:ext>
            </a:extLst>
          </p:cNvPr>
          <p:cNvSpPr txBox="1"/>
          <p:nvPr/>
        </p:nvSpPr>
        <p:spPr>
          <a:xfrm>
            <a:off x="6096000" y="2088297"/>
            <a:ext cx="6174658" cy="1019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Telegram Bot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python-telegram-bot: Framework </a:t>
            </a:r>
            <a:r>
              <a:rPr lang="en-US" sz="1400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utama</a:t>
            </a:r>
            <a:r>
              <a:rPr lang="en-US" sz="1400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00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untuk</a:t>
            </a:r>
            <a:r>
              <a:rPr lang="en-US" sz="1400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00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menjalankan</a:t>
            </a:r>
            <a:r>
              <a:rPr lang="en-US" sz="1400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bot Telegram.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python-</a:t>
            </a:r>
            <a:r>
              <a:rPr lang="en-US" sz="1400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dotenv</a:t>
            </a:r>
            <a:r>
              <a:rPr lang="en-US" sz="1400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400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Untuk</a:t>
            </a:r>
            <a:r>
              <a:rPr lang="en-US" sz="1400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00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membaca</a:t>
            </a:r>
            <a:r>
              <a:rPr lang="en-US" sz="1400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00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konfigurasi</a:t>
            </a:r>
            <a:r>
              <a:rPr lang="en-US" sz="1400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file .env (</a:t>
            </a:r>
            <a:r>
              <a:rPr lang="en-US" sz="1400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seperti</a:t>
            </a:r>
            <a:r>
              <a:rPr lang="en-US" sz="1400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API Token).</a:t>
            </a:r>
          </a:p>
        </p:txBody>
      </p:sp>
    </p:spTree>
    <p:extLst>
      <p:ext uri="{BB962C8B-B14F-4D97-AF65-F5344CB8AC3E}">
        <p14:creationId xmlns:p14="http://schemas.microsoft.com/office/powerpoint/2010/main" val="4041175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8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2462212" y="3028950"/>
            <a:ext cx="76485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Match Cascade: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Algoritma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pencarian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posisi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TTD yang sangat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fleksibel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dan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akurat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58" name="Google Shape;158;p18"/>
          <p:cNvSpPr txBox="1"/>
          <p:nvPr/>
        </p:nvSpPr>
        <p:spPr>
          <a:xfrm>
            <a:off x="2462212" y="3505200"/>
            <a:ext cx="76485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Layout-Aware Geometry: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Menghitung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ruang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kosong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agar TTD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tidak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menimpa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tulisan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penting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59" name="Google Shape;159;p18"/>
          <p:cNvSpPr txBox="1"/>
          <p:nvPr/>
        </p:nvSpPr>
        <p:spPr>
          <a:xfrm>
            <a:off x="2462211" y="4186237"/>
            <a:ext cx="783216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Background Removal: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Otomatis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menghapus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latar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belakang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putih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pada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gambar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tanda</a:t>
            </a:r>
            <a:r>
              <a:rPr lang="en-US" sz="1500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tangan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60" name="Google Shape;160;p18"/>
          <p:cNvSpPr txBox="1"/>
          <p:nvPr/>
        </p:nvSpPr>
        <p:spPr>
          <a:xfrm>
            <a:off x="2462211" y="4619625"/>
            <a:ext cx="76485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Session Management: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Data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dokumen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aman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dan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diproses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secara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privat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per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sesi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pengguna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161" name="Google Shape;16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81212" y="30670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81212" y="35433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66924" y="4284836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5499" y="471487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FITUR CERDAS (CORE LOGIC)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CF20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203C40EB-A28F-0EC3-5A32-993649D4F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>
            <a:extLst>
              <a:ext uri="{FF2B5EF4-FFF2-40B4-BE49-F238E27FC236}">
                <a16:creationId xmlns:a16="http://schemas.microsoft.com/office/drawing/2014/main" id="{2E59EFB1-2924-E12D-77C3-1E24D541E86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>
            <a:extLst>
              <a:ext uri="{FF2B5EF4-FFF2-40B4-BE49-F238E27FC236}">
                <a16:creationId xmlns:a16="http://schemas.microsoft.com/office/drawing/2014/main" id="{22F9F64F-428B-FE03-4750-8D581BACA5BB}"/>
              </a:ext>
            </a:extLst>
          </p:cNvPr>
          <p:cNvSpPr txBox="1"/>
          <p:nvPr/>
        </p:nvSpPr>
        <p:spPr>
          <a:xfrm>
            <a:off x="695325" y="1419999"/>
            <a:ext cx="786994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400" b="1" dirty="0" err="1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Arsitektur</a:t>
            </a:r>
            <a:r>
              <a:rPr lang="en-US" sz="2400" b="1" dirty="0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 &amp; </a:t>
            </a:r>
            <a:r>
              <a:rPr lang="en-US" sz="2400" b="1" dirty="0" err="1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Kendali</a:t>
            </a:r>
            <a:r>
              <a:rPr lang="en-US" sz="2400" b="1" dirty="0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b="1" dirty="0" err="1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Interaksi</a:t>
            </a:r>
            <a:r>
              <a:rPr lang="en-US" sz="2400" b="1" dirty="0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 (The Gateway)</a:t>
            </a:r>
            <a:endParaRPr lang="en-US" sz="2400" dirty="0"/>
          </a:p>
        </p:txBody>
      </p:sp>
      <p:sp>
        <p:nvSpPr>
          <p:cNvPr id="174" name="Google Shape;174;p19">
            <a:extLst>
              <a:ext uri="{FF2B5EF4-FFF2-40B4-BE49-F238E27FC236}">
                <a16:creationId xmlns:a16="http://schemas.microsoft.com/office/drawing/2014/main" id="{A773ECB3-89B0-2CA6-E06B-E4F9CBCA91D7}"/>
              </a:ext>
            </a:extLst>
          </p:cNvPr>
          <p:cNvSpPr txBox="1"/>
          <p:nvPr/>
        </p:nvSpPr>
        <p:spPr>
          <a:xfrm>
            <a:off x="695325" y="2006589"/>
            <a:ext cx="10858500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Handler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berfungsi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sebagai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gerbang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utama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sekaligus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isolator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dalam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struktur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Clean Architecture yang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memisahkan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interaksi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luar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dari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logika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inti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sistem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Komponen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ini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bertanggung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jawab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penuh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dalam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mengelola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alur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percakapan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serta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melakukan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validasi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format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dokumen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secara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real-time.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Dengan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memastikan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setiap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input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telah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terstandarisasi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sebelum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diteruskan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lapisan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inti, Handler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menjaga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integritas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keamanan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dan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stabilitas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sistem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secara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menyeluruh</a:t>
            </a:r>
            <a:endParaRPr lang="en-ID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lvl="0" algn="just">
              <a:lnSpc>
                <a:spcPct val="150000"/>
              </a:lnSpc>
            </a:pPr>
            <a:r>
              <a:rPr lang="en-ID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Contoh</a:t>
            </a:r>
            <a:r>
              <a:rPr lang="en-ID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function :</a:t>
            </a:r>
          </a:p>
        </p:txBody>
      </p:sp>
      <p:sp>
        <p:nvSpPr>
          <p:cNvPr id="176" name="Google Shape;176;p19">
            <a:extLst>
              <a:ext uri="{FF2B5EF4-FFF2-40B4-BE49-F238E27FC236}">
                <a16:creationId xmlns:a16="http://schemas.microsoft.com/office/drawing/2014/main" id="{B4C9B579-B209-F5CC-25F2-78D2F161F052}"/>
              </a:ext>
            </a:extLst>
          </p:cNvPr>
          <p:cNvSpPr txBox="1"/>
          <p:nvPr/>
        </p:nvSpPr>
        <p:spPr>
          <a:xfrm>
            <a:off x="762000" y="571500"/>
            <a:ext cx="114014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Poppins SemiBold"/>
                <a:cs typeface="Poppins SemiBold"/>
                <a:sym typeface="Poppins SemiBold"/>
              </a:rPr>
              <a:t>Handler </a:t>
            </a:r>
            <a:endParaRPr dirty="0"/>
          </a:p>
        </p:txBody>
      </p:sp>
      <p:sp>
        <p:nvSpPr>
          <p:cNvPr id="177" name="Google Shape;177;p19">
            <a:extLst>
              <a:ext uri="{FF2B5EF4-FFF2-40B4-BE49-F238E27FC236}">
                <a16:creationId xmlns:a16="http://schemas.microsoft.com/office/drawing/2014/main" id="{D952DFDA-546F-4383-9A6D-7D6A29B3F515}"/>
              </a:ext>
            </a:extLst>
          </p:cNvPr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CF20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B7EA24-35D8-9753-C9CE-AD9EEB03BA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865" y="3687441"/>
            <a:ext cx="5106443" cy="20602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6FFC08-F075-0733-25AB-0DA8D3003C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3692" y="3516509"/>
            <a:ext cx="5106443" cy="24021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D35B20D-F261-7A1C-FFF6-19AF6552131C}"/>
              </a:ext>
            </a:extLst>
          </p:cNvPr>
          <p:cNvCxnSpPr>
            <a:cxnSpLocks/>
          </p:cNvCxnSpPr>
          <p:nvPr/>
        </p:nvCxnSpPr>
        <p:spPr>
          <a:xfrm>
            <a:off x="5545394" y="4717569"/>
            <a:ext cx="111829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24122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723A3157-8E68-6B51-B6A3-9564DEFC3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>
            <a:extLst>
              <a:ext uri="{FF2B5EF4-FFF2-40B4-BE49-F238E27FC236}">
                <a16:creationId xmlns:a16="http://schemas.microsoft.com/office/drawing/2014/main" id="{5957EF40-B292-E32D-B42E-2B1E3EAE24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>
            <a:extLst>
              <a:ext uri="{FF2B5EF4-FFF2-40B4-BE49-F238E27FC236}">
                <a16:creationId xmlns:a16="http://schemas.microsoft.com/office/drawing/2014/main" id="{61B5C6D0-0640-94FE-61D7-A2C119A7B507}"/>
              </a:ext>
            </a:extLst>
          </p:cNvPr>
          <p:cNvSpPr txBox="1"/>
          <p:nvPr/>
        </p:nvSpPr>
        <p:spPr>
          <a:xfrm>
            <a:off x="695325" y="1419999"/>
            <a:ext cx="108585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Operasional</a:t>
            </a:r>
            <a:r>
              <a:rPr lang="en-US" sz="2400" b="1" i="0" u="none" strike="noStrike" cap="none" dirty="0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 Cerdas &amp; </a:t>
            </a:r>
            <a:r>
              <a:rPr lang="en-US" sz="2400" b="1" i="0" u="none" strike="noStrike" cap="none" dirty="0" err="1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Pengalaman</a:t>
            </a:r>
            <a:r>
              <a:rPr lang="en-US" sz="2400" b="1" i="0" u="none" strike="noStrike" cap="none" dirty="0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b="1" i="0" u="none" strike="noStrike" cap="none" dirty="0" err="1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Pengguna</a:t>
            </a:r>
            <a:r>
              <a:rPr lang="en-US" sz="2400" b="1" i="0" u="none" strike="noStrike" cap="none" dirty="0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 (The Operation)</a:t>
            </a:r>
            <a:endParaRPr lang="en-US" dirty="0"/>
          </a:p>
        </p:txBody>
      </p:sp>
      <p:sp>
        <p:nvSpPr>
          <p:cNvPr id="174" name="Google Shape;174;p19">
            <a:extLst>
              <a:ext uri="{FF2B5EF4-FFF2-40B4-BE49-F238E27FC236}">
                <a16:creationId xmlns:a16="http://schemas.microsoft.com/office/drawing/2014/main" id="{B06F2932-B4EF-4819-BAD5-BE1E60D2AA53}"/>
              </a:ext>
            </a:extLst>
          </p:cNvPr>
          <p:cNvSpPr txBox="1"/>
          <p:nvPr/>
        </p:nvSpPr>
        <p:spPr>
          <a:xfrm>
            <a:off x="5751872" y="2006589"/>
            <a:ext cx="5801954" cy="2262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ID" dirty="0" err="1">
                <a:solidFill>
                  <a:schemeClr val="bg1"/>
                </a:solidFill>
              </a:rPr>
              <a:t>Sebagai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orkestrator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alur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kerja</a:t>
            </a:r>
            <a:r>
              <a:rPr lang="en-ID" dirty="0">
                <a:solidFill>
                  <a:schemeClr val="bg1"/>
                </a:solidFill>
              </a:rPr>
              <a:t>, Handler </a:t>
            </a:r>
            <a:r>
              <a:rPr lang="en-ID" dirty="0" err="1">
                <a:solidFill>
                  <a:schemeClr val="bg1"/>
                </a:solidFill>
              </a:rPr>
              <a:t>menjalankan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berbagai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fitur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cerdas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seperti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pendeteksian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lokasi</a:t>
            </a:r>
            <a:r>
              <a:rPr lang="en-ID" dirty="0">
                <a:solidFill>
                  <a:schemeClr val="bg1"/>
                </a:solidFill>
              </a:rPr>
              <a:t> dan </a:t>
            </a:r>
            <a:r>
              <a:rPr lang="en-ID" dirty="0" err="1">
                <a:solidFill>
                  <a:schemeClr val="bg1"/>
                </a:solidFill>
              </a:rPr>
              <a:t>penempatan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tanda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tangan</a:t>
            </a:r>
            <a:r>
              <a:rPr lang="en-ID" dirty="0">
                <a:solidFill>
                  <a:schemeClr val="bg1"/>
                </a:solidFill>
              </a:rPr>
              <a:t> yang </a:t>
            </a:r>
            <a:r>
              <a:rPr lang="en-ID" dirty="0" err="1">
                <a:solidFill>
                  <a:schemeClr val="bg1"/>
                </a:solidFill>
              </a:rPr>
              <a:t>presisi</a:t>
            </a:r>
            <a:r>
              <a:rPr lang="en-ID" dirty="0">
                <a:solidFill>
                  <a:schemeClr val="bg1"/>
                </a:solidFill>
              </a:rPr>
              <a:t>, </a:t>
            </a:r>
            <a:r>
              <a:rPr lang="en-ID" dirty="0" err="1">
                <a:solidFill>
                  <a:schemeClr val="bg1"/>
                </a:solidFill>
              </a:rPr>
              <a:t>sambil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terus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memantau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performa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melalui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sistem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pelacakan</a:t>
            </a:r>
            <a:r>
              <a:rPr lang="en-ID" dirty="0">
                <a:solidFill>
                  <a:schemeClr val="bg1"/>
                </a:solidFill>
              </a:rPr>
              <a:t> digital (Tracing). </a:t>
            </a:r>
            <a:r>
              <a:rPr lang="en-ID" dirty="0" err="1">
                <a:solidFill>
                  <a:schemeClr val="bg1"/>
                </a:solidFill>
              </a:rPr>
              <a:t>Melalui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alur</a:t>
            </a:r>
            <a:r>
              <a:rPr lang="en-ID" dirty="0">
                <a:solidFill>
                  <a:schemeClr val="bg1"/>
                </a:solidFill>
              </a:rPr>
              <a:t> yang </a:t>
            </a:r>
            <a:r>
              <a:rPr lang="en-ID" dirty="0" err="1">
                <a:solidFill>
                  <a:schemeClr val="bg1"/>
                </a:solidFill>
              </a:rPr>
              <a:t>intuitif</a:t>
            </a:r>
            <a:r>
              <a:rPr lang="en-ID" dirty="0">
                <a:solidFill>
                  <a:schemeClr val="bg1"/>
                </a:solidFill>
              </a:rPr>
              <a:t>, Handler </a:t>
            </a:r>
            <a:r>
              <a:rPr lang="en-ID" dirty="0" err="1">
                <a:solidFill>
                  <a:schemeClr val="bg1"/>
                </a:solidFill>
              </a:rPr>
              <a:t>berhasil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menyederhanakan</a:t>
            </a:r>
            <a:r>
              <a:rPr lang="en-ID" dirty="0">
                <a:solidFill>
                  <a:schemeClr val="bg1"/>
                </a:solidFill>
              </a:rPr>
              <a:t> proses </a:t>
            </a:r>
            <a:r>
              <a:rPr lang="en-ID" dirty="0" err="1">
                <a:solidFill>
                  <a:schemeClr val="bg1"/>
                </a:solidFill>
              </a:rPr>
              <a:t>teknis</a:t>
            </a:r>
            <a:r>
              <a:rPr lang="en-ID" dirty="0">
                <a:solidFill>
                  <a:schemeClr val="bg1"/>
                </a:solidFill>
              </a:rPr>
              <a:t> yang </a:t>
            </a:r>
            <a:r>
              <a:rPr lang="en-ID" dirty="0" err="1">
                <a:solidFill>
                  <a:schemeClr val="bg1"/>
                </a:solidFill>
              </a:rPr>
              <a:t>kompleks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menjadi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pengalaman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pengguna</a:t>
            </a:r>
            <a:r>
              <a:rPr lang="en-ID" dirty="0">
                <a:solidFill>
                  <a:schemeClr val="bg1"/>
                </a:solidFill>
              </a:rPr>
              <a:t> yang </a:t>
            </a:r>
            <a:r>
              <a:rPr lang="en-ID" dirty="0" err="1">
                <a:solidFill>
                  <a:schemeClr val="bg1"/>
                </a:solidFill>
              </a:rPr>
              <a:t>instan</a:t>
            </a:r>
            <a:r>
              <a:rPr lang="en-ID" dirty="0">
                <a:solidFill>
                  <a:schemeClr val="bg1"/>
                </a:solidFill>
              </a:rPr>
              <a:t> dan </a:t>
            </a:r>
            <a:r>
              <a:rPr lang="en-ID" dirty="0" err="1">
                <a:solidFill>
                  <a:schemeClr val="bg1"/>
                </a:solidFill>
              </a:rPr>
              <a:t>transparan</a:t>
            </a:r>
            <a:r>
              <a:rPr lang="en-ID" dirty="0">
                <a:solidFill>
                  <a:schemeClr val="bg1"/>
                </a:solidFill>
              </a:rPr>
              <a:t>. Hal </a:t>
            </a:r>
            <a:r>
              <a:rPr lang="en-ID" dirty="0" err="1">
                <a:solidFill>
                  <a:schemeClr val="bg1"/>
                </a:solidFill>
              </a:rPr>
              <a:t>ini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menjamin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pengolahan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dokumen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berjalan</a:t>
            </a:r>
            <a:r>
              <a:rPr lang="en-ID" dirty="0">
                <a:solidFill>
                  <a:schemeClr val="bg1"/>
                </a:solidFill>
              </a:rPr>
              <a:t> optimal dan </a:t>
            </a:r>
            <a:r>
              <a:rPr lang="en-ID" dirty="0" err="1">
                <a:solidFill>
                  <a:schemeClr val="bg1"/>
                </a:solidFill>
              </a:rPr>
              <a:t>memberikan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hasil</a:t>
            </a:r>
            <a:r>
              <a:rPr lang="en-ID" dirty="0">
                <a:solidFill>
                  <a:schemeClr val="bg1"/>
                </a:solidFill>
              </a:rPr>
              <a:t> yang </a:t>
            </a:r>
            <a:r>
              <a:rPr lang="en-ID" dirty="0" err="1">
                <a:solidFill>
                  <a:schemeClr val="bg1"/>
                </a:solidFill>
              </a:rPr>
              <a:t>profesional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bagi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pengguna</a:t>
            </a:r>
            <a:r>
              <a:rPr lang="en-ID" dirty="0">
                <a:solidFill>
                  <a:schemeClr val="bg1"/>
                </a:solidFill>
              </a:rPr>
              <a:t> di </a:t>
            </a:r>
            <a:r>
              <a:rPr lang="en-ID" dirty="0" err="1">
                <a:solidFill>
                  <a:schemeClr val="bg1"/>
                </a:solidFill>
              </a:rPr>
              <a:t>setiap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tahapan</a:t>
            </a:r>
            <a:r>
              <a:rPr lang="en-ID" dirty="0">
                <a:solidFill>
                  <a:schemeClr val="bg1"/>
                </a:solidFill>
              </a:rPr>
              <a:t>.</a:t>
            </a:r>
            <a:endParaRPr lang="en-ID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6" name="Google Shape;176;p19">
            <a:extLst>
              <a:ext uri="{FF2B5EF4-FFF2-40B4-BE49-F238E27FC236}">
                <a16:creationId xmlns:a16="http://schemas.microsoft.com/office/drawing/2014/main" id="{A4315065-D226-A98D-C138-708DF4478CF3}"/>
              </a:ext>
            </a:extLst>
          </p:cNvPr>
          <p:cNvSpPr txBox="1"/>
          <p:nvPr/>
        </p:nvSpPr>
        <p:spPr>
          <a:xfrm>
            <a:off x="762000" y="571500"/>
            <a:ext cx="114014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Poppins SemiBold"/>
                <a:cs typeface="Poppins SemiBold"/>
                <a:sym typeface="Poppins SemiBold"/>
              </a:rPr>
              <a:t>Handler </a:t>
            </a:r>
            <a:endParaRPr dirty="0"/>
          </a:p>
        </p:txBody>
      </p:sp>
      <p:sp>
        <p:nvSpPr>
          <p:cNvPr id="177" name="Google Shape;177;p19">
            <a:extLst>
              <a:ext uri="{FF2B5EF4-FFF2-40B4-BE49-F238E27FC236}">
                <a16:creationId xmlns:a16="http://schemas.microsoft.com/office/drawing/2014/main" id="{903A5E3B-0C55-C60D-04C7-5782C4292324}"/>
              </a:ext>
            </a:extLst>
          </p:cNvPr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CF20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1B86FE-3A93-3CA9-CB69-57C7B3827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D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C2552A-58E0-9737-20C2-EAEAB8C2CD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5325" y="1989961"/>
            <a:ext cx="4477792" cy="391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5550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2C382D42-EBF9-5476-7C2A-000716355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>
            <a:extLst>
              <a:ext uri="{FF2B5EF4-FFF2-40B4-BE49-F238E27FC236}">
                <a16:creationId xmlns:a16="http://schemas.microsoft.com/office/drawing/2014/main" id="{8AA27305-E22C-FA8F-7DB3-2E8604EBEEC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>
            <a:extLst>
              <a:ext uri="{FF2B5EF4-FFF2-40B4-BE49-F238E27FC236}">
                <a16:creationId xmlns:a16="http://schemas.microsoft.com/office/drawing/2014/main" id="{3DA4763A-EAE4-6B36-D1CE-187704E33DA3}"/>
              </a:ext>
            </a:extLst>
          </p:cNvPr>
          <p:cNvSpPr txBox="1"/>
          <p:nvPr/>
        </p:nvSpPr>
        <p:spPr>
          <a:xfrm>
            <a:off x="571500" y="1235333"/>
            <a:ext cx="114766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Match Cascade &amp; Semantic Validation (Logika </a:t>
            </a:r>
            <a:r>
              <a:rPr lang="en-US" sz="2400" b="1" i="0" u="none" strike="noStrike" cap="none" dirty="0" err="1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Pencarian</a:t>
            </a:r>
            <a:r>
              <a:rPr lang="en-US" sz="2400" b="1" i="0" u="none" strike="noStrike" cap="none" dirty="0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dirty="0"/>
          </a:p>
        </p:txBody>
      </p:sp>
      <p:sp>
        <p:nvSpPr>
          <p:cNvPr id="176" name="Google Shape;176;p19">
            <a:extLst>
              <a:ext uri="{FF2B5EF4-FFF2-40B4-BE49-F238E27FC236}">
                <a16:creationId xmlns:a16="http://schemas.microsoft.com/office/drawing/2014/main" id="{BC05AB21-9A68-BFF8-0894-C0148091848A}"/>
              </a:ext>
            </a:extLst>
          </p:cNvPr>
          <p:cNvSpPr txBox="1"/>
          <p:nvPr/>
        </p:nvSpPr>
        <p:spPr>
          <a:xfrm>
            <a:off x="762000" y="571500"/>
            <a:ext cx="114014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Detection</a:t>
            </a:r>
            <a:endParaRPr dirty="0"/>
          </a:p>
        </p:txBody>
      </p:sp>
      <p:sp>
        <p:nvSpPr>
          <p:cNvPr id="177" name="Google Shape;177;p19">
            <a:extLst>
              <a:ext uri="{FF2B5EF4-FFF2-40B4-BE49-F238E27FC236}">
                <a16:creationId xmlns:a16="http://schemas.microsoft.com/office/drawing/2014/main" id="{04583D6B-AAFB-E52A-8084-65E162C2291F}"/>
              </a:ext>
            </a:extLst>
          </p:cNvPr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CF20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EDEAC4-05EB-5389-9944-AB1951469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065" y="1696998"/>
            <a:ext cx="8554720" cy="467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5335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5F1B4CB6-4871-8F2D-FC98-4466833BD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>
            <a:extLst>
              <a:ext uri="{FF2B5EF4-FFF2-40B4-BE49-F238E27FC236}">
                <a16:creationId xmlns:a16="http://schemas.microsoft.com/office/drawing/2014/main" id="{8213E3CF-9A4C-718A-7171-5A8D2480E3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>
            <a:extLst>
              <a:ext uri="{FF2B5EF4-FFF2-40B4-BE49-F238E27FC236}">
                <a16:creationId xmlns:a16="http://schemas.microsoft.com/office/drawing/2014/main" id="{3D3A9C10-88A3-1680-5164-133DA8D55E75}"/>
              </a:ext>
            </a:extLst>
          </p:cNvPr>
          <p:cNvSpPr txBox="1"/>
          <p:nvPr/>
        </p:nvSpPr>
        <p:spPr>
          <a:xfrm>
            <a:off x="571500" y="1235333"/>
            <a:ext cx="112468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Smart Layout Intelligence (</a:t>
            </a:r>
            <a:r>
              <a:rPr lang="en-US" sz="2400" b="1" i="0" u="none" strike="noStrike" cap="none" dirty="0" err="1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Analisis</a:t>
            </a:r>
            <a:r>
              <a:rPr lang="en-US" sz="2400" b="1" i="0" u="none" strike="noStrike" cap="none" dirty="0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b="1" i="0" u="none" strike="noStrike" cap="none" dirty="0" err="1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Spasial</a:t>
            </a:r>
            <a:r>
              <a:rPr lang="en-US" sz="2400" b="1" i="0" u="none" strike="noStrike" cap="none" dirty="0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dirty="0"/>
          </a:p>
        </p:txBody>
      </p:sp>
      <p:sp>
        <p:nvSpPr>
          <p:cNvPr id="176" name="Google Shape;176;p19">
            <a:extLst>
              <a:ext uri="{FF2B5EF4-FFF2-40B4-BE49-F238E27FC236}">
                <a16:creationId xmlns:a16="http://schemas.microsoft.com/office/drawing/2014/main" id="{09808E66-5A77-E29D-4774-0D9CA939A010}"/>
              </a:ext>
            </a:extLst>
          </p:cNvPr>
          <p:cNvSpPr txBox="1"/>
          <p:nvPr/>
        </p:nvSpPr>
        <p:spPr>
          <a:xfrm>
            <a:off x="762000" y="571500"/>
            <a:ext cx="114014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Injection</a:t>
            </a:r>
            <a:endParaRPr dirty="0"/>
          </a:p>
        </p:txBody>
      </p:sp>
      <p:sp>
        <p:nvSpPr>
          <p:cNvPr id="177" name="Google Shape;177;p19">
            <a:extLst>
              <a:ext uri="{FF2B5EF4-FFF2-40B4-BE49-F238E27FC236}">
                <a16:creationId xmlns:a16="http://schemas.microsoft.com/office/drawing/2014/main" id="{4CF73B2C-67CC-9896-B5E6-3AEE92C2165A}"/>
              </a:ext>
            </a:extLst>
          </p:cNvPr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CF20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D7D9EE-6AED-4D8B-61FB-757973A5B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581" y="1646370"/>
            <a:ext cx="8499987" cy="464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5784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8F55CB83-F7E6-B10C-AA72-216B82682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>
            <a:extLst>
              <a:ext uri="{FF2B5EF4-FFF2-40B4-BE49-F238E27FC236}">
                <a16:creationId xmlns:a16="http://schemas.microsoft.com/office/drawing/2014/main" id="{D25B6332-390A-1B2E-E035-BF60A8E9AE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>
            <a:extLst>
              <a:ext uri="{FF2B5EF4-FFF2-40B4-BE49-F238E27FC236}">
                <a16:creationId xmlns:a16="http://schemas.microsoft.com/office/drawing/2014/main" id="{CF421AEA-09C5-05DA-24EE-4F3F4E163CB9}"/>
              </a:ext>
            </a:extLst>
          </p:cNvPr>
          <p:cNvSpPr txBox="1"/>
          <p:nvPr/>
        </p:nvSpPr>
        <p:spPr>
          <a:xfrm>
            <a:off x="783432" y="1419999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CF2030"/>
                </a:solidFill>
                <a:latin typeface="Poppins"/>
                <a:ea typeface="Poppins"/>
                <a:cs typeface="Poppins"/>
                <a:sym typeface="Poppins"/>
              </a:rPr>
              <a:t>Converter</a:t>
            </a:r>
            <a:endParaRPr dirty="0"/>
          </a:p>
        </p:txBody>
      </p:sp>
      <p:sp>
        <p:nvSpPr>
          <p:cNvPr id="174" name="Google Shape;174;p19">
            <a:extLst>
              <a:ext uri="{FF2B5EF4-FFF2-40B4-BE49-F238E27FC236}">
                <a16:creationId xmlns:a16="http://schemas.microsoft.com/office/drawing/2014/main" id="{9047C881-C4F9-DCA8-3969-AAFFCC60FFE6}"/>
              </a:ext>
            </a:extLst>
          </p:cNvPr>
          <p:cNvSpPr txBox="1"/>
          <p:nvPr/>
        </p:nvSpPr>
        <p:spPr>
          <a:xfrm>
            <a:off x="762000" y="1899925"/>
            <a:ext cx="108204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Converter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mengubah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file Word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menjadi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PDF agar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bisa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diproses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dan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dikirim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ke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pengguna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Fungsinya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sederhana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menerima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DOCX,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merender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dokumen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dengan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tata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letak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yang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akurat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menggunakan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LibreOffice headless,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lalu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mengembalikan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PDF bytes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siap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pakai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dipanggil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sebelum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tahap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injeksi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tanda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tangan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 Langkah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ini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wajib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ada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agar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penempatan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tanda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tangan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berikutnya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dapat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berjalan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andal</a:t>
            </a:r>
            <a:r>
              <a:rPr lang="en-US" sz="1500" b="0" i="0" u="none" strike="noStrike" cap="none" dirty="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76" name="Google Shape;176;p19">
            <a:extLst>
              <a:ext uri="{FF2B5EF4-FFF2-40B4-BE49-F238E27FC236}">
                <a16:creationId xmlns:a16="http://schemas.microsoft.com/office/drawing/2014/main" id="{43E7D71C-BCAF-02EF-8734-6E4DE3F4F83B}"/>
              </a:ext>
            </a:extLst>
          </p:cNvPr>
          <p:cNvSpPr txBox="1"/>
          <p:nvPr/>
        </p:nvSpPr>
        <p:spPr>
          <a:xfrm>
            <a:off x="762000" y="571500"/>
            <a:ext cx="114014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Convertion</a:t>
            </a:r>
            <a:endParaRPr dirty="0"/>
          </a:p>
        </p:txBody>
      </p:sp>
      <p:sp>
        <p:nvSpPr>
          <p:cNvPr id="177" name="Google Shape;177;p19">
            <a:extLst>
              <a:ext uri="{FF2B5EF4-FFF2-40B4-BE49-F238E27FC236}">
                <a16:creationId xmlns:a16="http://schemas.microsoft.com/office/drawing/2014/main" id="{C14D3CB7-4AC3-0AF3-FD2B-409D5CFA01CF}"/>
              </a:ext>
            </a:extLst>
          </p:cNvPr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CF20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08129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1779</TotalTime>
  <Words>1071</Words>
  <Application>Microsoft Office PowerPoint</Application>
  <PresentationFormat>Widescreen</PresentationFormat>
  <Paragraphs>124</Paragraphs>
  <Slides>23</Slides>
  <Notes>23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Poppins</vt:lpstr>
      <vt:lpstr>Poppins SemiBold</vt:lpstr>
      <vt:lpstr>Calibri</vt:lpstr>
      <vt:lpstr>Lato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Victor</dc:creator>
  <cp:lastModifiedBy>victor asido</cp:lastModifiedBy>
  <cp:revision>8</cp:revision>
  <dcterms:modified xsi:type="dcterms:W3CDTF">2026-04-17T09:46:12Z</dcterms:modified>
</cp:coreProperties>
</file>